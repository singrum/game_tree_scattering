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6" r:id="rId4"/>
    <p:sldId id="258" r:id="rId5"/>
    <p:sldId id="288" r:id="rId6"/>
    <p:sldId id="259" r:id="rId7"/>
    <p:sldId id="260" r:id="rId8"/>
    <p:sldId id="261" r:id="rId9"/>
    <p:sldId id="285" r:id="rId10"/>
    <p:sldId id="262" r:id="rId11"/>
    <p:sldId id="289" r:id="rId12"/>
    <p:sldId id="263" r:id="rId13"/>
    <p:sldId id="292" r:id="rId14"/>
    <p:sldId id="291" r:id="rId15"/>
    <p:sldId id="265" r:id="rId16"/>
    <p:sldId id="264" r:id="rId17"/>
    <p:sldId id="294" r:id="rId18"/>
    <p:sldId id="266" r:id="rId19"/>
    <p:sldId id="267" r:id="rId20"/>
    <p:sldId id="268" r:id="rId21"/>
    <p:sldId id="269" r:id="rId22"/>
    <p:sldId id="270" r:id="rId23"/>
    <p:sldId id="273" r:id="rId24"/>
    <p:sldId id="272" r:id="rId25"/>
    <p:sldId id="271" r:id="rId26"/>
    <p:sldId id="293" r:id="rId27"/>
    <p:sldId id="274" r:id="rId28"/>
    <p:sldId id="275" r:id="rId29"/>
    <p:sldId id="276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77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8" autoAdjust="0"/>
    <p:restoredTop sz="94660"/>
  </p:normalViewPr>
  <p:slideViewPr>
    <p:cSldViewPr snapToGrid="0">
      <p:cViewPr>
        <p:scale>
          <a:sx n="66" d="100"/>
          <a:sy n="66" d="100"/>
        </p:scale>
        <p:origin x="888" y="7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570A47-8898-C40D-C1F2-2282A484BD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F8618E-C644-D9BA-058A-02B4DA25D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6F3CB9-0590-537D-BB29-74A7BFAA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15BB0DA-310C-F380-B381-710A08474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99DC9-9E6B-2DCE-9FC2-92230F818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783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D1983-F44B-A50A-E399-C3BA9BD30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C79CBC-47D2-7033-0017-F7F753EDA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5D688A-3548-AC74-FF7C-1CB85B718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91E4E6-6852-1F21-4E6E-15282B898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AAF53D-C60D-D7F2-407A-7C2B043D8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816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4F3C72-DDB8-DD13-A77D-46BB68835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F5C850-2308-7B85-49C4-4398B33E6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459AA1-715D-9B4E-0FC0-D451A0F3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40DA1D-CB42-068A-6982-A1DC3CC59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D735A2-10E4-462A-3EB9-4622D9E87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7507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9FA152-C6EE-6798-98A5-4B88000C2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B4BD86-13F2-6C08-1072-7C68E472AD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8CFED9-7790-6D71-1CE9-17A9AA7A1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3CDDDE-B786-5022-D0FD-DA892CA29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ADC456-D159-0302-7B2A-23BAC2D0E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CE5A26-AC52-B8BA-9D7B-E03FB5F88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0412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6212BB-7BEC-B963-E749-53A5FC3EB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9D5B9E-121F-15CA-B8A6-EE266D824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1A4291D-D0EC-442B-693A-830D7AFF2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14B9165-43E5-E925-A046-318DBEB234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4FB34A7-4B81-B6B2-3964-4127CA65C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610AC61-B0AE-2DB3-6F52-0BC657342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EEA9BB3-AAC8-EFFD-FDE8-0B6929722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713FFBD-BCD9-2FA5-14E9-77A874309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9085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B4B0F-01AB-46AE-BB37-5A5A09ADC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FC72617-CF81-26A9-16F2-376FD38BC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5E6347-F69D-0907-75C3-FD94E932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181357C-123F-DA45-6195-862AE02D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673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C683CE4-A171-3C9D-3A65-61636C366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FEC110-3DE5-9862-EF27-53E112783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EE3CE-F5EB-4379-4B94-FB395CF32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404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15EFE-88FF-B855-0C7F-2D5950B0D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5EE803-28CE-6238-CC97-3D478D7DF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2E410A-D81B-4966-C00D-077D78B2C1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F921C0-38C3-25E6-6D17-EEFBCB7F8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AF4D0C1-EC15-A695-65E3-BCAF066F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8E5EE8-1B56-AC65-DF93-7266C94F9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3963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FB8954-3483-680E-3561-AFA5BF896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42E65E4-CEB3-DC86-A3D6-127403CB6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B44E202-E292-6C28-E39F-F8862F21CE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F6497C-D03A-343B-B1C0-B2E49763B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0A7148F-AD84-2793-9421-84402AF38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1CFC91-DD0C-A09A-C5A5-6D5235131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546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DA1A2-140D-6898-FD20-98ABE89A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2430D6-81A2-B56F-2ACB-85FC5F2763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0F4224-1B8A-AD19-47A8-F344ACDFD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6E9E9D-7900-2F22-5A51-4659B5569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838212-6F53-33ED-C9B5-C5C9DD426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146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6ADDCF3-7F03-10FB-82F0-4990DA4601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0831F4E-638E-FA5D-E1A7-BC91FC9AE6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76A395-2BD9-092E-F2F0-C672E9D1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AD13F5-8893-5D8B-EAA4-3B02B2DD3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385D67-7ECC-38B4-6634-5B82DAA0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9638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7AB0851-5368-1213-CEAC-F2C9BC91E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2D3797-44DF-D2DB-3035-5558EB834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E3158-C903-A077-4409-045583B77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77E2BF-D3AA-4C43-9304-B3731588355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159368-1827-2DA0-E043-BF13506994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1CB28D-9A0D-5D2C-1872-C92CCAD2C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9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0.png"/><Relationship Id="rId3" Type="http://schemas.openxmlformats.org/officeDocument/2006/relationships/image" Target="../media/image360.png"/><Relationship Id="rId7" Type="http://schemas.openxmlformats.org/officeDocument/2006/relationships/image" Target="../media/image40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5" Type="http://schemas.openxmlformats.org/officeDocument/2006/relationships/image" Target="../media/image380.png"/><Relationship Id="rId4" Type="http://schemas.openxmlformats.org/officeDocument/2006/relationships/image" Target="../media/image370.png"/><Relationship Id="rId9" Type="http://schemas.openxmlformats.org/officeDocument/2006/relationships/image" Target="../media/image42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5323F-FA7A-E7B4-417E-7FAE7DDB1F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Quantum Walks and Game Tree Scattering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373929F-7926-DED5-2C04-8ECA331D13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전산물리학</a:t>
            </a:r>
            <a:r>
              <a:rPr lang="en-US" altLang="ko-KR"/>
              <a:t>2 </a:t>
            </a:r>
            <a:r>
              <a:rPr lang="ko-KR" altLang="en-US"/>
              <a:t>강효민</a:t>
            </a:r>
          </a:p>
        </p:txBody>
      </p:sp>
    </p:spTree>
    <p:extLst>
      <p:ext uri="{BB962C8B-B14F-4D97-AF65-F5344CB8AC3E}">
        <p14:creationId xmlns:p14="http://schemas.microsoft.com/office/powerpoint/2010/main" val="374737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029E53-E04D-04DD-28DD-923D180AC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고전적 랜덤 워크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2238E5B-DE29-F901-3154-DD8DDC7CA3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858560"/>
                <a:ext cx="10515600" cy="196894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ko-KR" altLang="en-US" sz="2400"/>
                  <a:t> 시간 동안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400"/>
                  <a:t> </a:t>
                </a:r>
                <a:r>
                  <a:rPr lang="ko-KR" altLang="en-US" sz="2400"/>
                  <a:t>확률로 이동</a:t>
                </a:r>
                <a:endParaRPr lang="en-US" altLang="ko-KR" sz="2400"/>
              </a:p>
              <a:p>
                <a:r>
                  <a:rPr lang="ko-KR" altLang="en-US" sz="2400"/>
                  <a:t>이동 시에는 왼쪽으로 갈 확률</a:t>
                </a:r>
                <a:r>
                  <a:rPr lang="en-US" altLang="ko-KR" sz="2400"/>
                  <a:t>=1/2, </a:t>
                </a:r>
                <a:r>
                  <a:rPr lang="ko-KR" altLang="en-US" sz="2400"/>
                  <a:t>오른쪽으로 갈 확률</a:t>
                </a:r>
                <a:r>
                  <a:rPr lang="en-US" altLang="ko-KR" sz="2400"/>
                  <a:t>=1/2</a:t>
                </a:r>
              </a:p>
              <a:p>
                <a:pPr marL="0" indent="0">
                  <a:buNone/>
                </a:pPr>
                <a:endParaRPr lang="en-US" altLang="ko-KR" sz="240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2238E5B-DE29-F901-3154-DD8DDC7CA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858560"/>
                <a:ext cx="10515600" cy="1968941"/>
              </a:xfrm>
              <a:blipFill>
                <a:blip r:embed="rId2"/>
                <a:stretch>
                  <a:fillRect l="-812" t="-40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DC1AE043-1535-86C7-C10E-219DFB62807F}"/>
              </a:ext>
            </a:extLst>
          </p:cNvPr>
          <p:cNvSpPr/>
          <p:nvPr/>
        </p:nvSpPr>
        <p:spPr>
          <a:xfrm>
            <a:off x="5889961" y="2568009"/>
            <a:ext cx="412078" cy="4120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/>
              <a:t>０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3C5E0A17-0431-6EBD-D510-7838BEEF4C5A}"/>
                  </a:ext>
                </a:extLst>
              </p:cNvPr>
              <p:cNvSpPr/>
              <p:nvPr/>
            </p:nvSpPr>
            <p:spPr>
              <a:xfrm>
                <a:off x="4890853" y="2568009"/>
                <a:ext cx="412078" cy="4120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-1</m:t>
                      </m:r>
                    </m:oMath>
                  </m:oMathPara>
                </a14:m>
                <a:endParaRPr lang="ko-KR" altLang="en-US"/>
              </a:p>
            </p:txBody>
          </p:sp>
        </mc:Choice>
        <mc:Fallback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3C5E0A17-0431-6EBD-D510-7838BEEF4C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853" y="2568009"/>
                <a:ext cx="412078" cy="41207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87B560BA-A094-22B9-196A-28E81E385DE4}"/>
                  </a:ext>
                </a:extLst>
              </p:cNvPr>
              <p:cNvSpPr/>
              <p:nvPr/>
            </p:nvSpPr>
            <p:spPr>
              <a:xfrm>
                <a:off x="3891746" y="2568009"/>
                <a:ext cx="412078" cy="4120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-2</m:t>
                      </m:r>
                    </m:oMath>
                  </m:oMathPara>
                </a14:m>
                <a:endParaRPr lang="ko-KR" altLang="en-US"/>
              </a:p>
            </p:txBody>
          </p:sp>
        </mc:Choice>
        <mc:Fallback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87B560BA-A094-22B9-196A-28E81E385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746" y="2568009"/>
                <a:ext cx="412078" cy="41207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타원 7">
            <a:extLst>
              <a:ext uri="{FF2B5EF4-FFF2-40B4-BE49-F238E27FC236}">
                <a16:creationId xmlns:a16="http://schemas.microsoft.com/office/drawing/2014/main" id="{880F527F-395F-7A26-013E-E92494B5E073}"/>
              </a:ext>
            </a:extLst>
          </p:cNvPr>
          <p:cNvSpPr/>
          <p:nvPr/>
        </p:nvSpPr>
        <p:spPr>
          <a:xfrm>
            <a:off x="6889068" y="2568009"/>
            <a:ext cx="412078" cy="4120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FC216B0-9BB1-C159-B01C-8498BC8A333D}"/>
              </a:ext>
            </a:extLst>
          </p:cNvPr>
          <p:cNvSpPr/>
          <p:nvPr/>
        </p:nvSpPr>
        <p:spPr>
          <a:xfrm>
            <a:off x="7888175" y="2568009"/>
            <a:ext cx="412078" cy="4120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C6BA9E3-9726-758C-814C-4957C6A969C4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4303824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792BA3C5-2536-BACB-7143-E082ECF6EB1F}"/>
              </a:ext>
            </a:extLst>
          </p:cNvPr>
          <p:cNvCxnSpPr>
            <a:cxnSpLocks/>
          </p:cNvCxnSpPr>
          <p:nvPr/>
        </p:nvCxnSpPr>
        <p:spPr>
          <a:xfrm>
            <a:off x="5302931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7F876A6-3EC5-7A29-FD53-99956AEB233F}"/>
              </a:ext>
            </a:extLst>
          </p:cNvPr>
          <p:cNvCxnSpPr>
            <a:cxnSpLocks/>
          </p:cNvCxnSpPr>
          <p:nvPr/>
        </p:nvCxnSpPr>
        <p:spPr>
          <a:xfrm>
            <a:off x="6302038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6DEB3C5E-4C8C-426F-7F7F-E45801258F01}"/>
              </a:ext>
            </a:extLst>
          </p:cNvPr>
          <p:cNvCxnSpPr>
            <a:cxnSpLocks/>
          </p:cNvCxnSpPr>
          <p:nvPr/>
        </p:nvCxnSpPr>
        <p:spPr>
          <a:xfrm>
            <a:off x="7301146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8F9F3F30-D3A9-A8E6-8CC3-18699FD57D8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6096000" y="2162221"/>
            <a:ext cx="0" cy="405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3004C84-B944-F16B-7E39-53FE0E72C84D}"/>
              </a:ext>
            </a:extLst>
          </p:cNvPr>
          <p:cNvSpPr txBox="1"/>
          <p:nvPr/>
        </p:nvSpPr>
        <p:spPr>
          <a:xfrm>
            <a:off x="3289006" y="256685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…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829848-AE62-CA0D-DECF-B04E783B6F51}"/>
              </a:ext>
            </a:extLst>
          </p:cNvPr>
          <p:cNvSpPr txBox="1"/>
          <p:nvPr/>
        </p:nvSpPr>
        <p:spPr>
          <a:xfrm>
            <a:off x="8574750" y="256685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…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801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6BF7B-4A11-23A0-B6A6-3936FD4F6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6B7F87A-85DC-17ED-3E16-F1D6D8F3A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01" y="1144330"/>
            <a:ext cx="3110788" cy="22200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10E95D-FAB7-33FA-F06C-C3B648B518AB}"/>
                  </a:ext>
                </a:extLst>
              </p:cNvPr>
              <p:cNvSpPr txBox="1"/>
              <p:nvPr/>
            </p:nvSpPr>
            <p:spPr>
              <a:xfrm>
                <a:off x="5682417" y="1156377"/>
                <a:ext cx="1815049" cy="2215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4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ko-KR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ko-KR" altLang="en-US" sz="24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400"/>
              </a:p>
              <a:p>
                <a:endParaRPr lang="ko-KR" altLang="en-US" sz="240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10E95D-FAB7-33FA-F06C-C3B648B5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417" y="1156377"/>
                <a:ext cx="1815049" cy="22150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886A75-89F9-2A70-7ED2-55446E1760EB}"/>
                  </a:ext>
                </a:extLst>
              </p:cNvPr>
              <p:cNvSpPr txBox="1"/>
              <p:nvPr/>
            </p:nvSpPr>
            <p:spPr>
              <a:xfrm>
                <a:off x="8541342" y="1109083"/>
                <a:ext cx="2184893" cy="18457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𝐻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4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1/2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ko-KR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1/2</m:t>
                                    </m:r>
                                  </m:e>
                                  <m:e>
                                    <m:r>
                                      <a:rPr lang="ko-KR" altLang="en-US" sz="24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40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886A75-89F9-2A70-7ED2-55446E176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1342" y="1109083"/>
                <a:ext cx="2184893" cy="18457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7AB4579-D3B8-1529-D72B-BC38DF958A2D}"/>
              </a:ext>
            </a:extLst>
          </p:cNvPr>
          <p:cNvCxnSpPr/>
          <p:nvPr/>
        </p:nvCxnSpPr>
        <p:spPr>
          <a:xfrm>
            <a:off x="7638445" y="2031964"/>
            <a:ext cx="9028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68577F7-1995-31E0-FA30-5BE025083A93}"/>
              </a:ext>
            </a:extLst>
          </p:cNvPr>
          <p:cNvSpPr txBox="1"/>
          <p:nvPr/>
        </p:nvSpPr>
        <p:spPr>
          <a:xfrm>
            <a:off x="9263478" y="582236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21BB46-86F7-54A9-3A8D-59AA29593F38}"/>
              </a:ext>
            </a:extLst>
          </p:cNvPr>
          <p:cNvSpPr txBox="1"/>
          <p:nvPr/>
        </p:nvSpPr>
        <p:spPr>
          <a:xfrm>
            <a:off x="1958104" y="810892"/>
            <a:ext cx="13003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/>
              <a:t>전이 행렬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E25A605-40BA-FAF4-737F-73369F1A8A8F}"/>
                  </a:ext>
                </a:extLst>
              </p:cNvPr>
              <p:cNvSpPr txBox="1"/>
              <p:nvPr/>
            </p:nvSpPr>
            <p:spPr>
              <a:xfrm>
                <a:off x="2777317" y="4336386"/>
                <a:ext cx="609686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sub>
                      </m:sSub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𝑑𝑡𝐻</m:t>
                      </m:r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d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sz="320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E25A605-40BA-FAF4-737F-73369F1A8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7317" y="4336386"/>
                <a:ext cx="6096866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56ECAC0A-A938-F4AD-A066-37883731B254}"/>
              </a:ext>
            </a:extLst>
          </p:cNvPr>
          <p:cNvCxnSpPr>
            <a:cxnSpLocks/>
          </p:cNvCxnSpPr>
          <p:nvPr/>
        </p:nvCxnSpPr>
        <p:spPr>
          <a:xfrm>
            <a:off x="3410309" y="5004232"/>
            <a:ext cx="90289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80DC6625-934C-8B23-432D-04F6EFD6DC2F}"/>
              </a:ext>
            </a:extLst>
          </p:cNvPr>
          <p:cNvCxnSpPr/>
          <p:nvPr/>
        </p:nvCxnSpPr>
        <p:spPr>
          <a:xfrm>
            <a:off x="3913510" y="5004232"/>
            <a:ext cx="0" cy="476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4D4F2CB-CEE3-FAE7-5B5A-1FE2331BF4A8}"/>
                  </a:ext>
                </a:extLst>
              </p:cNvPr>
              <p:cNvSpPr txBox="1"/>
              <p:nvPr/>
            </p:nvSpPr>
            <p:spPr>
              <a:xfrm>
                <a:off x="3181440" y="5570018"/>
                <a:ext cx="120077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ko-KR" altLang="en-US" sz="1600" b="0"/>
                  <a:t>초 후 확률 분포</a:t>
                </a:r>
                <a:endParaRPr lang="en-US" altLang="ko-KR" sz="1600" b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4D4F2CB-CEE3-FAE7-5B5A-1FE2331BF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440" y="5570018"/>
                <a:ext cx="1200777" cy="584775"/>
              </a:xfrm>
              <a:prstGeom prst="rect">
                <a:avLst/>
              </a:prstGeom>
              <a:blipFill>
                <a:blip r:embed="rId6"/>
                <a:stretch>
                  <a:fillRect l="-3046"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FC79D5DC-97BD-4875-2F42-9104D2C65B5F}"/>
              </a:ext>
            </a:extLst>
          </p:cNvPr>
          <p:cNvCxnSpPr>
            <a:cxnSpLocks/>
          </p:cNvCxnSpPr>
          <p:nvPr/>
        </p:nvCxnSpPr>
        <p:spPr>
          <a:xfrm>
            <a:off x="4859547" y="5004232"/>
            <a:ext cx="3795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641B81C3-E6BE-7AAE-C4A0-552A558C6D3C}"/>
              </a:ext>
            </a:extLst>
          </p:cNvPr>
          <p:cNvCxnSpPr/>
          <p:nvPr/>
        </p:nvCxnSpPr>
        <p:spPr>
          <a:xfrm>
            <a:off x="5063698" y="5004232"/>
            <a:ext cx="0" cy="476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8413A52-604E-C8CC-DD1C-46B6D81EBCCB}"/>
                  </a:ext>
                </a:extLst>
              </p:cNvPr>
              <p:cNvSpPr txBox="1"/>
              <p:nvPr/>
            </p:nvSpPr>
            <p:spPr>
              <a:xfrm>
                <a:off x="4558443" y="5564824"/>
                <a:ext cx="1010510" cy="589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동할 확률</a:t>
                </a:r>
                <a:endParaRPr lang="en-US" altLang="ko-KR" sz="1600" b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8413A52-604E-C8CC-DD1C-46B6D81EB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443" y="5564824"/>
                <a:ext cx="1010510" cy="589457"/>
              </a:xfrm>
              <a:prstGeom prst="rect">
                <a:avLst/>
              </a:prstGeom>
              <a:blipFill>
                <a:blip r:embed="rId7"/>
                <a:stretch>
                  <a:fillRect l="-3614" t="-3093" b="-123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752F9F8A-AD3C-C111-8B95-97C2289BB6EE}"/>
              </a:ext>
            </a:extLst>
          </p:cNvPr>
          <p:cNvCxnSpPr>
            <a:cxnSpLocks/>
          </p:cNvCxnSpPr>
          <p:nvPr/>
        </p:nvCxnSpPr>
        <p:spPr>
          <a:xfrm>
            <a:off x="5313872" y="5004232"/>
            <a:ext cx="6211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47D3EB35-9401-CA5C-A1B0-3C8754332A01}"/>
              </a:ext>
            </a:extLst>
          </p:cNvPr>
          <p:cNvCxnSpPr/>
          <p:nvPr/>
        </p:nvCxnSpPr>
        <p:spPr>
          <a:xfrm>
            <a:off x="5765313" y="5004232"/>
            <a:ext cx="0" cy="476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91D81EC-02F0-51E3-3202-469DF0F4BE4A}"/>
                  </a:ext>
                </a:extLst>
              </p:cNvPr>
              <p:cNvSpPr txBox="1"/>
              <p:nvPr/>
            </p:nvSpPr>
            <p:spPr>
              <a:xfrm>
                <a:off x="5415333" y="5564824"/>
                <a:ext cx="1963127" cy="589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동했다는 가정 하의 확률 분포</a:t>
                </a:r>
                <a:endParaRPr lang="en-US" altLang="ko-KR" sz="1600" b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91D81EC-02F0-51E3-3202-469DF0F4B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5333" y="5564824"/>
                <a:ext cx="1963127" cy="589457"/>
              </a:xfrm>
              <a:prstGeom prst="rect">
                <a:avLst/>
              </a:prstGeom>
              <a:blipFill>
                <a:blip r:embed="rId8"/>
                <a:stretch>
                  <a:fillRect l="-1553" t="-3093" r="-932" b="-123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BEF04EF3-B3F7-1942-8EAA-0680C78DC151}"/>
              </a:ext>
            </a:extLst>
          </p:cNvPr>
          <p:cNvCxnSpPr>
            <a:cxnSpLocks/>
          </p:cNvCxnSpPr>
          <p:nvPr/>
        </p:nvCxnSpPr>
        <p:spPr>
          <a:xfrm>
            <a:off x="6504317" y="5004232"/>
            <a:ext cx="12767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04D500B-8931-1B13-40D7-1ED0D15F1075}"/>
              </a:ext>
            </a:extLst>
          </p:cNvPr>
          <p:cNvCxnSpPr>
            <a:cxnSpLocks/>
          </p:cNvCxnSpPr>
          <p:nvPr/>
        </p:nvCxnSpPr>
        <p:spPr>
          <a:xfrm>
            <a:off x="7320951" y="5004232"/>
            <a:ext cx="230038" cy="560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4C048DE-56D8-2A37-8384-A9DA7B869932}"/>
                  </a:ext>
                </a:extLst>
              </p:cNvPr>
              <p:cNvSpPr txBox="1"/>
              <p:nvPr/>
            </p:nvSpPr>
            <p:spPr>
              <a:xfrm>
                <a:off x="7322608" y="5564824"/>
                <a:ext cx="1010510" cy="589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 안 할 확률</a:t>
                </a:r>
                <a:endParaRPr lang="en-US" altLang="ko-KR" sz="1600" b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4C048DE-56D8-2A37-8384-A9DA7B869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608" y="5564824"/>
                <a:ext cx="1010510" cy="589457"/>
              </a:xfrm>
              <a:prstGeom prst="rect">
                <a:avLst/>
              </a:prstGeom>
              <a:blipFill>
                <a:blip r:embed="rId9"/>
                <a:stretch>
                  <a:fillRect l="-3012" t="-3093" b="-123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416638E3-D1AC-F009-9ACD-DA13A6C10A7C}"/>
              </a:ext>
            </a:extLst>
          </p:cNvPr>
          <p:cNvCxnSpPr>
            <a:cxnSpLocks/>
          </p:cNvCxnSpPr>
          <p:nvPr/>
        </p:nvCxnSpPr>
        <p:spPr>
          <a:xfrm>
            <a:off x="7882113" y="5004232"/>
            <a:ext cx="36474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9E825FF5-E492-E8BE-911D-BC7888DEDD75}"/>
              </a:ext>
            </a:extLst>
          </p:cNvPr>
          <p:cNvCxnSpPr>
            <a:cxnSpLocks/>
          </p:cNvCxnSpPr>
          <p:nvPr/>
        </p:nvCxnSpPr>
        <p:spPr>
          <a:xfrm>
            <a:off x="8177843" y="5004232"/>
            <a:ext cx="230038" cy="560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0C25107-8BB2-A81E-0253-8AB757B31614}"/>
                  </a:ext>
                </a:extLst>
              </p:cNvPr>
              <p:cNvSpPr txBox="1"/>
              <p:nvPr/>
            </p:nvSpPr>
            <p:spPr>
              <a:xfrm>
                <a:off x="8195093" y="5564823"/>
                <a:ext cx="1613147" cy="8356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 안 했을 때 확률 분포 </a:t>
                </a:r>
                <a:r>
                  <a:rPr lang="en-US" altLang="ko-KR" sz="1600" b="0"/>
                  <a:t>(</a:t>
                </a:r>
                <a:r>
                  <a:rPr lang="ko-KR" altLang="en-US" sz="1600" b="0"/>
                  <a:t>그대로</a:t>
                </a:r>
                <a:r>
                  <a:rPr lang="en-US" altLang="ko-KR" sz="1600" b="0"/>
                  <a:t>)</a:t>
                </a: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0C25107-8BB2-A81E-0253-8AB757B31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093" y="5564823"/>
                <a:ext cx="1613147" cy="835678"/>
              </a:xfrm>
              <a:prstGeom prst="rect">
                <a:avLst/>
              </a:prstGeom>
              <a:blipFill>
                <a:blip r:embed="rId10"/>
                <a:stretch>
                  <a:fillRect l="-1887" t="-2190" b="-8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9324FA7-E61A-629B-D309-0B62852C1E2D}"/>
                  </a:ext>
                </a:extLst>
              </p:cNvPr>
              <p:cNvSpPr txBox="1"/>
              <p:nvPr/>
            </p:nvSpPr>
            <p:spPr>
              <a:xfrm>
                <a:off x="6504317" y="3269876"/>
                <a:ext cx="56951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sz="2400" b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9324FA7-E61A-629B-D309-0B62852C1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4317" y="3269876"/>
                <a:ext cx="569515" cy="461665"/>
              </a:xfrm>
              <a:prstGeom prst="rect">
                <a:avLst/>
              </a:prstGeom>
              <a:blipFill>
                <a:blip r:embed="rId11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5A83C5-B81F-013F-BAFA-51AA3DC9AE46}"/>
                  </a:ext>
                </a:extLst>
              </p:cNvPr>
              <p:cNvSpPr txBox="1"/>
              <p:nvPr/>
            </p:nvSpPr>
            <p:spPr>
              <a:xfrm>
                <a:off x="8874183" y="3269876"/>
                <a:ext cx="80297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sz="2400" b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5A83C5-B81F-013F-BAFA-51AA3DC9A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4183" y="3269876"/>
                <a:ext cx="802977" cy="461665"/>
              </a:xfrm>
              <a:prstGeom prst="rect">
                <a:avLst/>
              </a:prstGeom>
              <a:blipFill>
                <a:blip r:embed="rId1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28457254-C187-DAB3-1A56-8F2817254771}"/>
              </a:ext>
            </a:extLst>
          </p:cNvPr>
          <p:cNvCxnSpPr/>
          <p:nvPr/>
        </p:nvCxnSpPr>
        <p:spPr>
          <a:xfrm>
            <a:off x="7638445" y="3500708"/>
            <a:ext cx="9028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D6BF1E4-3C53-8EAA-E98A-6594332C91F8}"/>
              </a:ext>
            </a:extLst>
          </p:cNvPr>
          <p:cNvSpPr txBox="1"/>
          <p:nvPr/>
        </p:nvSpPr>
        <p:spPr>
          <a:xfrm>
            <a:off x="6267236" y="582236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전</a:t>
            </a:r>
          </a:p>
        </p:txBody>
      </p:sp>
    </p:spTree>
    <p:extLst>
      <p:ext uri="{BB962C8B-B14F-4D97-AF65-F5344CB8AC3E}">
        <p14:creationId xmlns:p14="http://schemas.microsoft.com/office/powerpoint/2010/main" val="136313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A7FC476-3CA5-A390-ED26-A3DB8AF62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7741"/>
                <a:ext cx="10515600" cy="32621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𝑑𝑡𝐻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d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ko-KR" altLang="en-US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A7FC476-3CA5-A390-ED26-A3DB8AF62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7741"/>
                <a:ext cx="10515600" cy="326210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4949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0FC104-C6EB-FE7C-B6B2-90B8C5566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D967DD1-392A-3E55-7890-4EFF3CAF15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872827"/>
                <a:ext cx="10515600" cy="570894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𝑑𝑡𝐻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d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/>
                  <a:t> 값을 구하기 위해서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/>
                  <a:t>를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의 고유벡터를 기저로 분해</a:t>
                </a:r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:r>
                  <a:rPr lang="en-US" altLang="ko-KR"/>
                  <a:t>H</a:t>
                </a:r>
                <a:r>
                  <a:rPr lang="ko-KR" altLang="en-US"/>
                  <a:t>의 고유벡터는 푸리에 기저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</m:oMath>
                </a14:m>
                <a:r>
                  <a:rPr lang="ko-KR" altLang="en-US"/>
                  <a:t>이다</a:t>
                </a:r>
                <a:r>
                  <a:rPr lang="en-US" altLang="ko-KR"/>
                  <a:t>. (</a:t>
                </a:r>
                <a:r>
                  <a:rPr lang="ko-KR" altLang="en-US"/>
                  <a:t>고윳값은 </a:t>
                </a:r>
                <a:r>
                  <a:rPr lang="en-US" altLang="ko-KR"/>
                  <a:t>cosk)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𝐻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𝑖𝑘𝑛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func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𝑖𝑘𝑛</m:t>
                          </m:r>
                        </m:sup>
                      </m:sSup>
                    </m:oMath>
                  </m:oMathPara>
                </a14:m>
                <a:endParaRPr lang="ko-KR" altLang="en-US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D967DD1-392A-3E55-7890-4EFF3CAF15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872827"/>
                <a:ext cx="10515600" cy="570894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8007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34E393-6D98-3567-A158-1945882E0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FA57396-182B-B572-1D8E-82E489423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98177"/>
                <a:ext cx="10515600" cy="375473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acc>
                            <m:accPr>
                              <m:chr m:val="̃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일 때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에서 출발했다면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는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에 확률 </a:t>
                </a:r>
                <a:r>
                  <a:rPr lang="en-US" altLang="ko-KR"/>
                  <a:t>1</a:t>
                </a:r>
                <a:r>
                  <a:rPr lang="ko-KR" altLang="en-US"/>
                  <a:t>로 분포되어 있으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므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로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ko-KR" altLang="en-US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/>
                  <a:t> 모든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/>
                  <a:t>에 대해서 </a:t>
                </a:r>
                <a:r>
                  <a:rPr lang="en-US" altLang="ko-KR"/>
                  <a:t>1</a:t>
                </a:r>
                <a:r>
                  <a:rPr lang="ko-KR" altLang="en-US"/>
                  <a:t>의 값을 갖는다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FA57396-182B-B572-1D8E-82E489423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98177"/>
                <a:ext cx="10515600" cy="3754736"/>
              </a:xfrm>
              <a:blipFill>
                <a:blip r:embed="rId2"/>
                <a:stretch>
                  <a:fillRect l="-1217" r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2D35780-97E6-7401-FD03-951070785394}"/>
              </a:ext>
            </a:extLst>
          </p:cNvPr>
          <p:cNvCxnSpPr/>
          <p:nvPr/>
        </p:nvCxnSpPr>
        <p:spPr>
          <a:xfrm>
            <a:off x="1676400" y="5588000"/>
            <a:ext cx="2705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406E5FF-40FB-A517-C8C7-3CCC03EFB420}"/>
              </a:ext>
            </a:extLst>
          </p:cNvPr>
          <p:cNvCxnSpPr>
            <a:cxnSpLocks/>
          </p:cNvCxnSpPr>
          <p:nvPr/>
        </p:nvCxnSpPr>
        <p:spPr>
          <a:xfrm flipV="1">
            <a:off x="2927350" y="3714750"/>
            <a:ext cx="0" cy="1873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06D8C0-4D31-D205-9B3D-61DA33611761}"/>
                  </a:ext>
                </a:extLst>
              </p:cNvPr>
              <p:cNvSpPr txBox="1"/>
              <p:nvPr/>
            </p:nvSpPr>
            <p:spPr>
              <a:xfrm>
                <a:off x="2927350" y="3386138"/>
                <a:ext cx="814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06D8C0-4D31-D205-9B3D-61DA33611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7350" y="3386138"/>
                <a:ext cx="814390" cy="369332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타원 10">
            <a:extLst>
              <a:ext uri="{FF2B5EF4-FFF2-40B4-BE49-F238E27FC236}">
                <a16:creationId xmlns:a16="http://schemas.microsoft.com/office/drawing/2014/main" id="{E2163E33-35B3-2CF3-0176-8FFA8FB867FC}"/>
              </a:ext>
            </a:extLst>
          </p:cNvPr>
          <p:cNvSpPr/>
          <p:nvPr/>
        </p:nvSpPr>
        <p:spPr>
          <a:xfrm>
            <a:off x="2877939" y="4371977"/>
            <a:ext cx="98822" cy="98822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AD07C60-C07E-E1AD-5DBE-16F5A1047540}"/>
              </a:ext>
            </a:extLst>
          </p:cNvPr>
          <p:cNvCxnSpPr/>
          <p:nvPr/>
        </p:nvCxnSpPr>
        <p:spPr>
          <a:xfrm>
            <a:off x="1633538" y="5588000"/>
            <a:ext cx="260032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888DF81-2D9F-4DF1-D4F0-3C094291E01B}"/>
              </a:ext>
            </a:extLst>
          </p:cNvPr>
          <p:cNvCxnSpPr/>
          <p:nvPr/>
        </p:nvCxnSpPr>
        <p:spPr>
          <a:xfrm>
            <a:off x="6393752" y="5588000"/>
            <a:ext cx="2705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E5E8791-3C77-8C86-A3AD-DEC6734FF5EA}"/>
              </a:ext>
            </a:extLst>
          </p:cNvPr>
          <p:cNvCxnSpPr>
            <a:cxnSpLocks/>
          </p:cNvCxnSpPr>
          <p:nvPr/>
        </p:nvCxnSpPr>
        <p:spPr>
          <a:xfrm flipV="1">
            <a:off x="7644702" y="3714750"/>
            <a:ext cx="0" cy="1873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F237F0-604F-BAD7-5DB5-5CAC2F1DB377}"/>
                  </a:ext>
                </a:extLst>
              </p:cNvPr>
              <p:cNvSpPr txBox="1"/>
              <p:nvPr/>
            </p:nvSpPr>
            <p:spPr>
              <a:xfrm>
                <a:off x="7644702" y="3386138"/>
                <a:ext cx="816570" cy="3776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F237F0-604F-BAD7-5DB5-5CAC2F1DB3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4702" y="3386138"/>
                <a:ext cx="816570" cy="377667"/>
              </a:xfrm>
              <a:prstGeom prst="rect">
                <a:avLst/>
              </a:prstGeom>
              <a:blipFill>
                <a:blip r:embed="rId4"/>
                <a:stretch>
                  <a:fillRect t="-1613" r="-2985" b="-16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A5930EDC-8445-C07B-78B2-C83B4FE97F56}"/>
              </a:ext>
            </a:extLst>
          </p:cNvPr>
          <p:cNvCxnSpPr/>
          <p:nvPr/>
        </p:nvCxnSpPr>
        <p:spPr>
          <a:xfrm>
            <a:off x="6350890" y="4451629"/>
            <a:ext cx="260032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A14FEE6-E5D9-426A-AFE0-5DA046199561}"/>
              </a:ext>
            </a:extLst>
          </p:cNvPr>
          <p:cNvSpPr txBox="1"/>
          <p:nvPr/>
        </p:nvSpPr>
        <p:spPr>
          <a:xfrm>
            <a:off x="7333398" y="4055994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6E07BE-0D2C-C1F4-3BB4-482B5058A272}"/>
              </a:ext>
            </a:extLst>
          </p:cNvPr>
          <p:cNvSpPr txBox="1"/>
          <p:nvPr/>
        </p:nvSpPr>
        <p:spPr>
          <a:xfrm>
            <a:off x="2566634" y="4055994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09CAF8DD-D509-6FA2-A881-029B43721C16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927350" y="4470799"/>
            <a:ext cx="0" cy="111720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989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50884A-591F-CE1B-1405-4ED1AA136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33C86E9B-8D52-BD02-35E5-5F1780D072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28146"/>
                <a:ext cx="10515600" cy="56333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ko-KR" altLang="en-US"/>
                  <a:t>따라서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임</m:t>
                    </m:r>
                  </m:oMath>
                </a14:m>
                <a:r>
                  <a:rPr lang="ko-KR" altLang="en-US"/>
                  <a:t>을</a:t>
                </a:r>
                <a:r>
                  <a:rPr lang="en-US" altLang="ko-KR"/>
                  <a:t> </a:t>
                </a:r>
                <a:r>
                  <a:rPr lang="ko-KR" altLang="en-US"/>
                  <a:t>이용하면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acc>
                            <m:accPr>
                              <m:chr m:val="̃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ko-KR" altLang="en-US"/>
                  <a:t>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의 고윳벡터이므로 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fun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−1 )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en-US" altLang="ko-KR" b="0"/>
                  <a:t> </a:t>
                </a:r>
                <a:r>
                  <a:rPr lang="ko-KR" altLang="en-US"/>
                  <a:t>이다</a:t>
                </a:r>
                <a:r>
                  <a:rPr lang="en-US" altLang="ko-KR"/>
                  <a:t>.</a:t>
                </a:r>
                <a:r>
                  <a:rPr lang="ko-KR" altLang="en-US"/>
                  <a:t> </a:t>
                </a:r>
                <a:endParaRPr lang="en-US" altLang="ko-KR" b="0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33C86E9B-8D52-BD02-35E5-5F1780D072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28146"/>
                <a:ext cx="10515600" cy="5633348"/>
              </a:xfrm>
              <a:blipFill>
                <a:blip r:embed="rId2"/>
                <a:stretch>
                  <a:fillRect l="-1217" t="-16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408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E869F64-41C4-B762-BEDC-221BA21C1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70EAC484-2F71-0553-578B-4BB4D664E3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28146"/>
                <a:ext cx="10515600" cy="563334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ko-KR" altLang="en-US" b="0"/>
                  <a:t>결론적으로</a:t>
                </a:r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func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/>
                  <a:t>이고</a:t>
                </a:r>
                <a:r>
                  <a:rPr lang="en-US" altLang="ko-KR"/>
                  <a:t>, </a:t>
                </a:r>
              </a:p>
              <a:p>
                <a:pPr marL="0" indent="0">
                  <a:buNone/>
                </a:pPr>
                <a:r>
                  <a:rPr lang="ko-KR" altLang="en-US" b="0"/>
                  <a:t>시간이 지날수록 </a:t>
                </a:r>
                <a:r>
                  <a:rPr lang="en-US" altLang="ko-KR" b="0"/>
                  <a:t>x</a:t>
                </a:r>
                <a:r>
                  <a:rPr lang="ko-KR" altLang="en-US" b="0"/>
                  <a:t>에 대한 확률분포는 고르게 퍼진다는 점을 감안하면 </a:t>
                </a:r>
                <a:r>
                  <a:rPr lang="ko-KR" altLang="en-US"/>
                  <a:t>푸리에 변환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ko-KR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func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/>
                  <a:t>가 작은 값들에 대해서만 크기를 가질 것이다</a:t>
                </a:r>
                <a:r>
                  <a:rPr lang="en-US" altLang="ko-KR"/>
                  <a:t>.</a:t>
                </a:r>
                <a:r>
                  <a:rPr lang="ko-KR" altLang="en-US"/>
                  <a:t> 따라서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fun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ko-KR" altLang="en-US"/>
                  <a:t>로 근사하면</a:t>
                </a:r>
                <a:r>
                  <a:rPr lang="en-US" altLang="ko-KR"/>
                  <a:t>,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 b="0"/>
                  <a:t>따라서 큰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대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해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서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b="0"/>
                  <a:t>는 정규 분포를 따른다</a:t>
                </a:r>
                <a:r>
                  <a:rPr lang="en-US" altLang="ko-KR" b="0"/>
                  <a:t>.</a:t>
                </a:r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70EAC484-2F71-0553-578B-4BB4D664E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28146"/>
                <a:ext cx="10515600" cy="5633348"/>
              </a:xfrm>
              <a:blipFill>
                <a:blip r:embed="rId2"/>
                <a:stretch>
                  <a:fillRect l="-1217" t="-1840" r="-6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2202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BE6A72-673E-667E-33F2-79BA3ED22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444" y="681017"/>
            <a:ext cx="8401111" cy="549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185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DDCAA1-FA10-14D3-2C1A-8AE1C478B1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444" y="801787"/>
            <a:ext cx="8401111" cy="549596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12206E-BF0C-50DB-08F3-EF15A76F26AF}"/>
              </a:ext>
            </a:extLst>
          </p:cNvPr>
          <p:cNvCxnSpPr>
            <a:cxnSpLocks/>
          </p:cNvCxnSpPr>
          <p:nvPr/>
        </p:nvCxnSpPr>
        <p:spPr>
          <a:xfrm>
            <a:off x="5773947" y="3163019"/>
            <a:ext cx="1052423" cy="0"/>
          </a:xfrm>
          <a:prstGeom prst="straightConnector1">
            <a:avLst/>
          </a:prstGeom>
          <a:ln w="76200"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FADD3D-62BE-3E1F-B79D-E90D946789CF}"/>
                  </a:ext>
                </a:extLst>
              </p:cNvPr>
              <p:cNvSpPr txBox="1"/>
              <p:nvPr/>
            </p:nvSpPr>
            <p:spPr>
              <a:xfrm>
                <a:off x="5934973" y="3269409"/>
                <a:ext cx="1564257" cy="483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rad>
                  </m:oMath>
                </a14:m>
                <a:r>
                  <a:rPr lang="ko-KR" altLang="en-US" sz="2400" b="1"/>
                  <a:t>에 비례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FADD3D-62BE-3E1F-B79D-E90D94678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973" y="3269409"/>
                <a:ext cx="1564257" cy="483081"/>
              </a:xfrm>
              <a:prstGeom prst="rect">
                <a:avLst/>
              </a:prstGeom>
              <a:blipFill>
                <a:blip r:embed="rId3"/>
                <a:stretch>
                  <a:fillRect t="-5000" r="-4297" b="-27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5D18B59-4034-BBF3-C059-C2170FFFB151}"/>
              </a:ext>
            </a:extLst>
          </p:cNvPr>
          <p:cNvCxnSpPr/>
          <p:nvPr/>
        </p:nvCxnSpPr>
        <p:spPr>
          <a:xfrm>
            <a:off x="5641675" y="1460740"/>
            <a:ext cx="0" cy="1581509"/>
          </a:xfrm>
          <a:prstGeom prst="straightConnector1">
            <a:avLst/>
          </a:prstGeom>
          <a:ln w="76200"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6CB562-D458-B15E-E5CF-9DC5713F5D9C}"/>
              </a:ext>
            </a:extLst>
          </p:cNvPr>
          <p:cNvSpPr txBox="1"/>
          <p:nvPr/>
        </p:nvSpPr>
        <p:spPr>
          <a:xfrm>
            <a:off x="3812876" y="2020661"/>
            <a:ext cx="18287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ko-KR" altLang="en-US" sz="2400" b="1"/>
              <a:t>전체 높이의 </a:t>
            </a:r>
            <a:r>
              <a:rPr lang="en-US" altLang="ko-KR" sz="2400" b="1"/>
              <a:t>k</a:t>
            </a:r>
            <a:r>
              <a:rPr lang="ko-KR" altLang="en-US" sz="2400" b="1"/>
              <a:t>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CE077F9-C520-FDC7-DE45-8EB015DFB2BE}"/>
              </a:ext>
            </a:extLst>
          </p:cNvPr>
          <p:cNvSpPr/>
          <p:nvPr/>
        </p:nvSpPr>
        <p:spPr>
          <a:xfrm>
            <a:off x="5773948" y="1460740"/>
            <a:ext cx="1052422" cy="1581503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9EE524E-1D98-074A-A727-A497E475B9EC}"/>
              </a:ext>
            </a:extLst>
          </p:cNvPr>
          <p:cNvCxnSpPr/>
          <p:nvPr/>
        </p:nvCxnSpPr>
        <p:spPr>
          <a:xfrm flipV="1">
            <a:off x="6464060" y="2231366"/>
            <a:ext cx="1869057" cy="1437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53DA2CC-89C9-A124-B249-63341E6FBA6D}"/>
              </a:ext>
            </a:extLst>
          </p:cNvPr>
          <p:cNvSpPr txBox="1"/>
          <p:nvPr/>
        </p:nvSpPr>
        <p:spPr>
          <a:xfrm>
            <a:off x="8269855" y="2066827"/>
            <a:ext cx="18460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/>
              <a:t>“</a:t>
            </a:r>
            <a:r>
              <a:rPr lang="ko-KR" altLang="en-US" sz="2400" b="1"/>
              <a:t>고른</a:t>
            </a:r>
            <a:r>
              <a:rPr lang="en-US" altLang="ko-KR" sz="2400" b="1"/>
              <a:t>” </a:t>
            </a:r>
            <a:r>
              <a:rPr lang="ko-KR" altLang="en-US" sz="2400" b="1"/>
              <a:t>분포</a:t>
            </a:r>
          </a:p>
        </p:txBody>
      </p:sp>
    </p:spTree>
    <p:extLst>
      <p:ext uri="{BB962C8B-B14F-4D97-AF65-F5344CB8AC3E}">
        <p14:creationId xmlns:p14="http://schemas.microsoft.com/office/powerpoint/2010/main" val="1663634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2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E8803B-4CFA-0AD3-90D4-A295F7DA23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b="0"/>
                  <a:t>초동안 랜덤워크한 이후에</a:t>
                </a:r>
                <a:r>
                  <a:rPr lang="en-US" altLang="ko-KR" b="0"/>
                  <a:t>,</a:t>
                </a:r>
                <a:r>
                  <a:rPr lang="ko-KR" altLang="en-US" b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rad>
                  </m:oMath>
                </a14:m>
                <a:r>
                  <a:rPr lang="ko-KR" altLang="en-US" b="0"/>
                  <a:t>에 비례하는 </a:t>
                </a:r>
                <a:r>
                  <a:rPr lang="ko-KR" altLang="en-US"/>
                  <a:t>범위의 확률 분포가 균일하다</a:t>
                </a:r>
                <a:endParaRPr lang="en-US" altLang="ko-KR"/>
              </a:p>
              <a:p>
                <a:endParaRPr lang="en-US" altLang="ko-KR" b="0"/>
              </a:p>
              <a:p>
                <a:endParaRPr lang="en-US" altLang="ko-KR"/>
              </a:p>
              <a:p>
                <a:endParaRPr lang="en-US" altLang="ko-KR" b="0"/>
              </a:p>
              <a:p>
                <a:r>
                  <a:rPr lang="en-US" altLang="ko-KR" b="0"/>
                  <a:t>N</a:t>
                </a:r>
                <a:r>
                  <a:rPr lang="ko-KR" altLang="en-US" b="0"/>
                  <a:t>개의 상태를 균일한 확률로 샘플링 하기 위해서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b="0"/>
                  <a:t>만큼의 시간이 소요된다</a:t>
                </a:r>
                <a:r>
                  <a:rPr lang="en-US" altLang="ko-KR" b="0"/>
                  <a:t>.</a:t>
                </a:r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E8803B-4CFA-0AD3-90D4-A295F7DA23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D99DAF0-AE8D-BBCD-03F4-69303C0A290F}"/>
              </a:ext>
            </a:extLst>
          </p:cNvPr>
          <p:cNvCxnSpPr>
            <a:cxnSpLocks/>
          </p:cNvCxnSpPr>
          <p:nvPr/>
        </p:nvCxnSpPr>
        <p:spPr>
          <a:xfrm>
            <a:off x="6327157" y="2957992"/>
            <a:ext cx="0" cy="109237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8215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3991B3-6C35-C2C4-FEF4-67BFB9BDC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양자 랜덤 워크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A46C95B-C2BF-4B1B-22BE-6809CE165A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양자 랜덤 워크를 이용하면 균일한 분포를 얻기 위한 수행 시간을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서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으로 줄일 수 있다</a:t>
                </a:r>
                <a:r>
                  <a:rPr lang="en-US" altLang="ko-KR"/>
                  <a:t>.</a:t>
                </a:r>
              </a:p>
              <a:p>
                <a:endParaRPr lang="en-US" altLang="ko-KR"/>
              </a:p>
              <a:p>
                <a:r>
                  <a:rPr lang="ko-KR" altLang="en-US"/>
                  <a:t>시간 부분 슈뢰딩거 방정식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𝑖𝐻</m:t>
                      </m:r>
                      <m:d>
                        <m:dPr>
                          <m:begChr m:val="|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:r>
                  <a:rPr lang="ko-KR" altLang="en-US"/>
                  <a:t>해밀토니언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를                     로 정의</a:t>
                </a:r>
                <a:endParaRPr lang="en-US" altLang="ko-KR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A46C95B-C2BF-4B1B-22BE-6809CE165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F32FA5A9-5180-3994-2F33-F4FACC82F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855" y="4808067"/>
            <a:ext cx="2223192" cy="15865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4B930A-F8E1-C5D4-D7A4-26F9B1EDE96C}"/>
                  </a:ext>
                </a:extLst>
              </p:cNvPr>
              <p:cNvSpPr txBox="1"/>
              <p:nvPr/>
            </p:nvSpPr>
            <p:spPr>
              <a:xfrm>
                <a:off x="8472520" y="3879543"/>
                <a:ext cx="3113971" cy="928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ko-KR" altLang="en-US" sz="2400" b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고</a:t>
                </a:r>
                <a14:m>
                  <m:oMath xmlns:m="http://schemas.openxmlformats.org/officeDocument/2006/math">
                    <m:r>
                      <a:rPr lang="ko-KR" alt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전</m:t>
                    </m:r>
                    <m:r>
                      <a:rPr lang="en-US" altLang="ko-KR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랜</m:t>
                    </m:r>
                    <m:r>
                      <a:rPr lang="ko-KR" altLang="en-US" sz="240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덤</m:t>
                    </m:r>
                    <m:r>
                      <a:rPr lang="ko-KR" alt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워</m:t>
                    </m:r>
                    <m:r>
                      <a:rPr lang="ko-KR" altLang="en-US" sz="240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크</m:t>
                    </m:r>
                    <m:r>
                      <a:rPr lang="en-US" altLang="ko-KR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endParaRPr lang="en-US" altLang="ko-KR" sz="2400" b="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 xmlns:m="http://schemas.openxmlformats.org/officeDocument/2006/math">
                    <m:r>
                      <a:rPr lang="en-US" altLang="ko-KR" sz="28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 sz="28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d>
                          <m:dPr>
                            <m:ctrlP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>
                      <m:sSubPr>
                        <m:ctrlP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80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4B930A-F8E1-C5D4-D7A4-26F9B1EDE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520" y="3879543"/>
                <a:ext cx="3113971" cy="928524"/>
              </a:xfrm>
              <a:prstGeom prst="rect">
                <a:avLst/>
              </a:prstGeom>
              <a:blipFill>
                <a:blip r:embed="rId4"/>
                <a:stretch>
                  <a:fillRect l="-3131" t="-45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2410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D6C323-EB00-4B11-1F13-0A88E2A7A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38948"/>
                <a:ext cx="10515600" cy="564595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𝑖𝐻𝑡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altLang="ko-KR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n-US" altLang="ko-KR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b="0"/>
                  <a:t>계산 </a:t>
                </a:r>
                <a:r>
                  <a:rPr lang="en-US" altLang="ko-KR"/>
                  <a:t>-&gt;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b="0"/>
                  <a:t>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 b="0"/>
                  <a:t>의 고유벡터로 분해해야 함</a:t>
                </a:r>
                <a:endParaRPr lang="en-US" altLang="ko-KR" b="0"/>
              </a:p>
              <a:p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𝐻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sup>
                        </m:s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func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</m:oMath>
                </a14:m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의 고유벡터는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</m:oMath>
                </a14:m>
                <a:r>
                  <a:rPr lang="ko-KR" altLang="en-US"/>
                  <a:t>이며</a:t>
                </a:r>
                <a:r>
                  <a:rPr lang="en-US" altLang="ko-KR"/>
                  <a:t>, </a:t>
                </a:r>
                <a:r>
                  <a:rPr lang="ko-KR" altLang="en-US"/>
                  <a:t>고윳값은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func>
                  </m:oMath>
                </a14:m>
                <a:endParaRPr lang="en-US" altLang="ko-KR"/>
              </a:p>
              <a:p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acc>
                            <m:accPr>
                              <m:chr m:val="̃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</m:e>
                      </m:nary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𝑑𝑘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</m:e>
                      </m:nary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𝑑𝑘</m:t>
                      </m:r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  <m:func>
                                <m:func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ko-KR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func>
                            </m:sup>
                          </m:sSup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/>
              </a:p>
              <a:p>
                <a:endParaRPr lang="en-US" altLang="ko-KR"/>
              </a:p>
              <a:p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D6C323-EB00-4B11-1F13-0A88E2A7A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38948"/>
                <a:ext cx="10515600" cy="56459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5428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8D2962E6-D963-183A-AFF1-787952086E60}"/>
              </a:ext>
            </a:extLst>
          </p:cNvPr>
          <p:cNvCxnSpPr/>
          <p:nvPr/>
        </p:nvCxnSpPr>
        <p:spPr>
          <a:xfrm>
            <a:off x="2228722" y="4839296"/>
            <a:ext cx="2705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8F92D78-94DD-CA17-5437-6F2375003F52}"/>
              </a:ext>
            </a:extLst>
          </p:cNvPr>
          <p:cNvCxnSpPr>
            <a:cxnSpLocks/>
          </p:cNvCxnSpPr>
          <p:nvPr/>
        </p:nvCxnSpPr>
        <p:spPr>
          <a:xfrm flipV="1">
            <a:off x="3479672" y="2966046"/>
            <a:ext cx="0" cy="1873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55A651-1EEE-8485-BBBC-B6AFA4DC26C8}"/>
                  </a:ext>
                </a:extLst>
              </p:cNvPr>
              <p:cNvSpPr txBox="1"/>
              <p:nvPr/>
            </p:nvSpPr>
            <p:spPr>
              <a:xfrm>
                <a:off x="3161670" y="2200508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55A651-1EEE-8485-BBBC-B6AFA4DC2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1670" y="2200508"/>
                <a:ext cx="802336" cy="461665"/>
              </a:xfrm>
              <a:prstGeom prst="rect">
                <a:avLst/>
              </a:prstGeom>
              <a:blipFill>
                <a:blip r:embed="rId2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타원 6">
            <a:extLst>
              <a:ext uri="{FF2B5EF4-FFF2-40B4-BE49-F238E27FC236}">
                <a16:creationId xmlns:a16="http://schemas.microsoft.com/office/drawing/2014/main" id="{D53C1B83-40A4-AFF7-581B-CB0513A3A0FE}"/>
              </a:ext>
            </a:extLst>
          </p:cNvPr>
          <p:cNvSpPr/>
          <p:nvPr/>
        </p:nvSpPr>
        <p:spPr>
          <a:xfrm>
            <a:off x="3430261" y="3623273"/>
            <a:ext cx="98822" cy="98822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6EA3B94-E243-3A0F-3A29-3D1DBDC710E9}"/>
              </a:ext>
            </a:extLst>
          </p:cNvPr>
          <p:cNvCxnSpPr/>
          <p:nvPr/>
        </p:nvCxnSpPr>
        <p:spPr>
          <a:xfrm>
            <a:off x="2185860" y="4839296"/>
            <a:ext cx="260032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DB11015-53A0-2D4B-D61F-6075C115406B}"/>
              </a:ext>
            </a:extLst>
          </p:cNvPr>
          <p:cNvCxnSpPr/>
          <p:nvPr/>
        </p:nvCxnSpPr>
        <p:spPr>
          <a:xfrm>
            <a:off x="6946074" y="4839296"/>
            <a:ext cx="2705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CE9A9FB-58D5-FDF9-315F-FC64AA2E4C2A}"/>
              </a:ext>
            </a:extLst>
          </p:cNvPr>
          <p:cNvCxnSpPr>
            <a:cxnSpLocks/>
          </p:cNvCxnSpPr>
          <p:nvPr/>
        </p:nvCxnSpPr>
        <p:spPr>
          <a:xfrm flipV="1">
            <a:off x="8197024" y="2966046"/>
            <a:ext cx="0" cy="1873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82AF7C7A-0B7A-3428-2EDC-0ABB42016A9A}"/>
              </a:ext>
            </a:extLst>
          </p:cNvPr>
          <p:cNvCxnSpPr/>
          <p:nvPr/>
        </p:nvCxnSpPr>
        <p:spPr>
          <a:xfrm>
            <a:off x="6903212" y="3702925"/>
            <a:ext cx="260032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D6C0109-5A28-0197-E48F-20BE777AE136}"/>
              </a:ext>
            </a:extLst>
          </p:cNvPr>
          <p:cNvSpPr txBox="1"/>
          <p:nvPr/>
        </p:nvSpPr>
        <p:spPr>
          <a:xfrm>
            <a:off x="7885720" y="330729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87E7A0-CD13-8D26-3232-CFE6D928B468}"/>
              </a:ext>
            </a:extLst>
          </p:cNvPr>
          <p:cNvSpPr txBox="1"/>
          <p:nvPr/>
        </p:nvSpPr>
        <p:spPr>
          <a:xfrm>
            <a:off x="3118956" y="330729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DDA207F-6214-13A3-C74E-7BE88FCA2182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3479672" y="3722095"/>
            <a:ext cx="0" cy="111720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5FA655F-6171-2B45-CADD-FBCBFA54FE89}"/>
                  </a:ext>
                </a:extLst>
              </p:cNvPr>
              <p:cNvSpPr txBox="1"/>
              <p:nvPr/>
            </p:nvSpPr>
            <p:spPr>
              <a:xfrm>
                <a:off x="7802206" y="2266347"/>
                <a:ext cx="802336" cy="472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̃"/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5FA655F-6171-2B45-CADD-FBCBFA54F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06" y="2266347"/>
                <a:ext cx="802336" cy="472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19744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35BA5D0-9F6F-9547-3E38-3389850A22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13866"/>
                <a:ext cx="10515600" cy="41886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ko-KR"/>
                  <a:t>stationary phase method</a:t>
                </a:r>
                <a:r>
                  <a:rPr lang="ko-KR" altLang="en-US"/>
                  <a:t>를 사용하면</a:t>
                </a:r>
                <a:r>
                  <a:rPr lang="en-US" altLang="ko-KR"/>
                  <a:t>,</a:t>
                </a:r>
              </a:p>
              <a:p>
                <a:pPr marL="0" indent="0">
                  <a:buNone/>
                </a:pPr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35BA5D0-9F6F-9547-3E38-3389850A2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13866"/>
                <a:ext cx="10515600" cy="4188603"/>
              </a:xfrm>
              <a:blipFill>
                <a:blip r:embed="rId2"/>
                <a:stretch>
                  <a:fillRect l="-1217" t="-2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9087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B32ED3-0E42-986B-5AD1-A1277A870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723" y="1090836"/>
            <a:ext cx="8943926" cy="4947885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29D7A4-E250-4EA2-E6F0-17C85F20770D}"/>
              </a:ext>
            </a:extLst>
          </p:cNvPr>
          <p:cNvCxnSpPr>
            <a:cxnSpLocks/>
          </p:cNvCxnSpPr>
          <p:nvPr/>
        </p:nvCxnSpPr>
        <p:spPr>
          <a:xfrm>
            <a:off x="4056742" y="4818743"/>
            <a:ext cx="444862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48EE8C-7DD2-23AE-B80B-AE503E563B35}"/>
                  </a:ext>
                </a:extLst>
              </p:cNvPr>
              <p:cNvSpPr txBox="1"/>
              <p:nvPr/>
            </p:nvSpPr>
            <p:spPr>
              <a:xfrm>
                <a:off x="4572001" y="4224049"/>
                <a:ext cx="75474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ko-KR" altLang="en-US" sz="240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48EE8C-7DD2-23AE-B80B-AE503E563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1" y="4224049"/>
                <a:ext cx="754743" cy="461665"/>
              </a:xfrm>
              <a:prstGeom prst="rect">
                <a:avLst/>
              </a:prstGeom>
              <a:blipFill>
                <a:blip r:embed="rId3"/>
                <a:stretch>
                  <a:fillRect l="-16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0340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8F725-ABF7-B9FF-40C4-BB6DADB8A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5416F1-F945-B47E-5FCC-AE9F1B27CB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08952"/>
                <a:ext cx="10515600" cy="41886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ko-KR" altLang="en-US"/>
                  <a:t>중앙 균일한 부분의 너비 </a:t>
                </a:r>
                <a:r>
                  <a:rPr lang="en-US" altLang="ko-KR"/>
                  <a:t>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/>
                  <a:t>따라서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/>
                  <a:t>개의 상태를 균일하게 샘플링하기 위해 필요한 시간은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b="0"/>
              </a:p>
              <a:p>
                <a:pPr marL="0" indent="0">
                  <a:buNone/>
                </a:pPr>
                <a:endParaRPr lang="en-US" altLang="ko-KR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5416F1-F945-B47E-5FCC-AE9F1B27CB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08952"/>
                <a:ext cx="10515600" cy="4188603"/>
              </a:xfrm>
              <a:blipFill>
                <a:blip r:embed="rId2"/>
                <a:stretch>
                  <a:fillRect l="-1217" t="-26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29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55393C-8EC5-337F-04AE-A2A8142C5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게임 트리 평가 알고리즘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92110E-79F5-4839-5F08-7E754A872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2</a:t>
            </a:r>
            <a:r>
              <a:rPr lang="ko-KR" altLang="en-US"/>
              <a:t>인용 턴제 게임</a:t>
            </a:r>
            <a:r>
              <a:rPr lang="en-US" altLang="ko-KR"/>
              <a:t>(</a:t>
            </a:r>
            <a:r>
              <a:rPr lang="ko-KR" altLang="en-US"/>
              <a:t>예 </a:t>
            </a:r>
            <a:r>
              <a:rPr lang="en-US" altLang="ko-KR"/>
              <a:t>: </a:t>
            </a:r>
            <a:r>
              <a:rPr lang="ko-KR" altLang="en-US"/>
              <a:t>틱택토</a:t>
            </a:r>
            <a:r>
              <a:rPr lang="en-US" altLang="ko-KR"/>
              <a:t>, </a:t>
            </a:r>
            <a:r>
              <a:rPr lang="ko-KR" altLang="en-US"/>
              <a:t>오목</a:t>
            </a:r>
            <a:r>
              <a:rPr lang="en-US" altLang="ko-KR"/>
              <a:t>, </a:t>
            </a:r>
            <a:r>
              <a:rPr lang="ko-KR" altLang="en-US"/>
              <a:t>체스 등</a:t>
            </a:r>
            <a:r>
              <a:rPr lang="en-US" altLang="ko-KR"/>
              <a:t>)</a:t>
            </a:r>
            <a:r>
              <a:rPr lang="ko-KR" altLang="en-US"/>
              <a:t>은 보통 게임 트리로 표현된다</a:t>
            </a:r>
            <a:r>
              <a:rPr lang="en-US" altLang="ko-KR"/>
              <a:t>.</a:t>
            </a:r>
          </a:p>
          <a:p>
            <a:r>
              <a:rPr lang="ko-KR" altLang="en-US"/>
              <a:t>게임 트리의 노드는 현재 상태</a:t>
            </a:r>
            <a:r>
              <a:rPr lang="en-US" altLang="ko-KR"/>
              <a:t>, </a:t>
            </a:r>
            <a:r>
              <a:rPr lang="ko-KR" altLang="en-US"/>
              <a:t>간선은 가능한 수</a:t>
            </a:r>
            <a:r>
              <a:rPr lang="en-US" altLang="ko-KR"/>
              <a:t>, </a:t>
            </a:r>
            <a:r>
              <a:rPr lang="ko-KR" altLang="en-US"/>
              <a:t>리프 노드는 더 이상 취할 수 있는 수가 없는 필패 상태를 의미한다</a:t>
            </a:r>
            <a:r>
              <a:rPr lang="en-US" altLang="ko-KR"/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F3AB16E-8FA9-0D51-03C1-77207BF34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299"/>
          <a:stretch>
            <a:fillRect/>
          </a:stretch>
        </p:blipFill>
        <p:spPr>
          <a:xfrm>
            <a:off x="3559833" y="3826953"/>
            <a:ext cx="4169435" cy="284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3676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01E24-E2A2-633F-FEED-68995716D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1061C1-E540-3764-C658-57087EEDF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필승</a:t>
            </a:r>
            <a:r>
              <a:rPr lang="en-US" altLang="ko-KR"/>
              <a:t>, </a:t>
            </a:r>
            <a:r>
              <a:rPr lang="ko-KR" altLang="en-US"/>
              <a:t>필패 평가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FAB8FCB-0E15-C41D-6EA8-8A1DA21DDC63}"/>
              </a:ext>
            </a:extLst>
          </p:cNvPr>
          <p:cNvGrpSpPr/>
          <p:nvPr/>
        </p:nvGrpSpPr>
        <p:grpSpPr>
          <a:xfrm>
            <a:off x="2288874" y="1738248"/>
            <a:ext cx="5774274" cy="4356490"/>
            <a:chOff x="5877463" y="1552755"/>
            <a:chExt cx="5774274" cy="435649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1270F66D-25A0-52A0-BD37-478FB54BF4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299"/>
            <a:stretch>
              <a:fillRect/>
            </a:stretch>
          </p:blipFill>
          <p:spPr>
            <a:xfrm>
              <a:off x="5877463" y="1969399"/>
              <a:ext cx="5774274" cy="3939846"/>
            </a:xfrm>
            <a:prstGeom prst="rect">
              <a:avLst/>
            </a:prstGeom>
          </p:spPr>
        </p:pic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BAA0B9E9-C851-995F-8468-77DA1CCE406E}"/>
                </a:ext>
              </a:extLst>
            </p:cNvPr>
            <p:cNvSpPr/>
            <p:nvPr/>
          </p:nvSpPr>
          <p:spPr>
            <a:xfrm>
              <a:off x="8603411" y="1742536"/>
              <a:ext cx="902898" cy="9028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399913-B26B-B806-9F69-C36F2BDD59C6}"/>
                </a:ext>
              </a:extLst>
            </p:cNvPr>
            <p:cNvSpPr txBox="1"/>
            <p:nvPr/>
          </p:nvSpPr>
          <p:spPr>
            <a:xfrm>
              <a:off x="9195758" y="1552755"/>
              <a:ext cx="9589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/>
                <a:t>내 상태</a:t>
              </a:r>
            </a:p>
          </p:txBody>
        </p:sp>
        <p:sp>
          <p:nvSpPr>
            <p:cNvPr id="9" name="오른쪽 중괄호 8">
              <a:extLst>
                <a:ext uri="{FF2B5EF4-FFF2-40B4-BE49-F238E27FC236}">
                  <a16:creationId xmlns:a16="http://schemas.microsoft.com/office/drawing/2014/main" id="{4C779B81-C0C8-20C6-4FCC-F1C7576202AB}"/>
                </a:ext>
              </a:extLst>
            </p:cNvPr>
            <p:cNvSpPr/>
            <p:nvPr/>
          </p:nvSpPr>
          <p:spPr>
            <a:xfrm rot="5400000">
              <a:off x="8440191" y="1100551"/>
              <a:ext cx="672898" cy="5154322"/>
            </a:xfrm>
            <a:prstGeom prst="righ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92094CE-DB87-721D-0F0E-0F8A67ABB990}"/>
                </a:ext>
              </a:extLst>
            </p:cNvPr>
            <p:cNvSpPr txBox="1"/>
            <p:nvPr/>
          </p:nvSpPr>
          <p:spPr>
            <a:xfrm>
              <a:off x="8600883" y="4056358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</a:rPr>
                <a:t>다음 상태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0325FE5-B581-5135-116E-0CE8A2ADD6D1}"/>
              </a:ext>
            </a:extLst>
          </p:cNvPr>
          <p:cNvSpPr txBox="1"/>
          <p:nvPr/>
        </p:nvSpPr>
        <p:spPr>
          <a:xfrm>
            <a:off x="4931592" y="5211767"/>
            <a:ext cx="5155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>
                <a:solidFill>
                  <a:srgbClr val="FF0000"/>
                </a:solidFill>
              </a:rPr>
              <a:t>다음 상태</a:t>
            </a:r>
            <a:r>
              <a:rPr lang="ko-KR" altLang="en-US"/>
              <a:t>들 중 하나가 필패 </a:t>
            </a:r>
            <a:r>
              <a:rPr lang="en-US" altLang="ko-KR"/>
              <a:t>= </a:t>
            </a:r>
            <a:r>
              <a:rPr lang="ko-KR" altLang="en-US" b="1"/>
              <a:t>현재 상태</a:t>
            </a:r>
            <a:r>
              <a:rPr lang="ko-KR" altLang="en-US"/>
              <a:t>가 필승</a:t>
            </a:r>
            <a:endParaRPr lang="en-US" altLang="ko-KR"/>
          </a:p>
          <a:p>
            <a:r>
              <a:rPr lang="ko-KR" altLang="en-US" b="1">
                <a:solidFill>
                  <a:srgbClr val="FF0000"/>
                </a:solidFill>
              </a:rPr>
              <a:t>다음 상태</a:t>
            </a:r>
            <a:r>
              <a:rPr lang="ko-KR" altLang="en-US"/>
              <a:t>들 모두 필승 </a:t>
            </a:r>
            <a:r>
              <a:rPr lang="en-US" altLang="ko-KR"/>
              <a:t>= </a:t>
            </a:r>
            <a:r>
              <a:rPr lang="ko-KR" altLang="en-US" b="1"/>
              <a:t>현재 상태 </a:t>
            </a:r>
            <a:r>
              <a:rPr lang="ko-KR" altLang="en-US"/>
              <a:t>필패</a:t>
            </a:r>
          </a:p>
        </p:txBody>
      </p:sp>
    </p:spTree>
    <p:extLst>
      <p:ext uri="{BB962C8B-B14F-4D97-AF65-F5344CB8AC3E}">
        <p14:creationId xmlns:p14="http://schemas.microsoft.com/office/powerpoint/2010/main" val="3491462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FA5677-3FC0-FEDD-8633-3BC30E863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루프가 첨가된 라인 그래프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9031C0F-64C8-A02B-DE25-E0D198A6A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97857"/>
                <a:ext cx="10515600" cy="2479106"/>
              </a:xfrm>
            </p:spPr>
            <p:txBody>
              <a:bodyPr/>
              <a:lstStyle/>
              <a:p>
                <a:r>
                  <a:rPr lang="ko-KR" altLang="en-US"/>
                  <a:t>위와같이 </a:t>
                </a:r>
                <a:r>
                  <a:rPr lang="en-US" altLang="ko-KR"/>
                  <a:t>x=0</a:t>
                </a:r>
                <a:r>
                  <a:rPr lang="ko-KR" altLang="en-US"/>
                  <a:t>에 가중치가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/>
                  <a:t>인 루프를 하나 포함시켜보자</a:t>
                </a:r>
                <a:r>
                  <a:rPr lang="en-US" altLang="ko-KR"/>
                  <a:t>. </a:t>
                </a:r>
                <a:r>
                  <a:rPr lang="ko-KR" altLang="en-US"/>
                  <a:t>그러면 전이 행렬은 다음과 같이 변한다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9031C0F-64C8-A02B-DE25-E0D198A6A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97857"/>
                <a:ext cx="10515600" cy="2479106"/>
              </a:xfrm>
              <a:blipFill>
                <a:blip r:embed="rId2"/>
                <a:stretch>
                  <a:fillRect l="-1043" t="-4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8A691307-D789-1B1D-42E3-E60762499929}"/>
              </a:ext>
            </a:extLst>
          </p:cNvPr>
          <p:cNvSpPr/>
          <p:nvPr/>
        </p:nvSpPr>
        <p:spPr>
          <a:xfrm>
            <a:off x="5725042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2542EC1-B3FE-0E04-A682-05ADE37E83CA}"/>
              </a:ext>
            </a:extLst>
          </p:cNvPr>
          <p:cNvSpPr/>
          <p:nvPr/>
        </p:nvSpPr>
        <p:spPr>
          <a:xfrm>
            <a:off x="4288755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5C25600-A43D-C56E-27D6-0B2527AB626D}"/>
              </a:ext>
            </a:extLst>
          </p:cNvPr>
          <p:cNvSpPr/>
          <p:nvPr/>
        </p:nvSpPr>
        <p:spPr>
          <a:xfrm>
            <a:off x="2852468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A666B3A-C2A9-0EA1-262E-416D48C776D4}"/>
              </a:ext>
            </a:extLst>
          </p:cNvPr>
          <p:cNvSpPr/>
          <p:nvPr/>
        </p:nvSpPr>
        <p:spPr>
          <a:xfrm>
            <a:off x="7161329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14C3D91-9B6F-5641-8594-008F38261FAB}"/>
              </a:ext>
            </a:extLst>
          </p:cNvPr>
          <p:cNvSpPr/>
          <p:nvPr/>
        </p:nvSpPr>
        <p:spPr>
          <a:xfrm>
            <a:off x="8597616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23054C3-8E1E-B8A9-4742-7B0B857E0B1A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3444859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23FC09E-BDED-9F40-9248-5821754FBDE1}"/>
              </a:ext>
            </a:extLst>
          </p:cNvPr>
          <p:cNvCxnSpPr>
            <a:cxnSpLocks/>
          </p:cNvCxnSpPr>
          <p:nvPr/>
        </p:nvCxnSpPr>
        <p:spPr>
          <a:xfrm>
            <a:off x="4881146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828DFFA-5F34-68E4-0036-87B5C39A16B8}"/>
              </a:ext>
            </a:extLst>
          </p:cNvPr>
          <p:cNvCxnSpPr>
            <a:cxnSpLocks/>
          </p:cNvCxnSpPr>
          <p:nvPr/>
        </p:nvCxnSpPr>
        <p:spPr>
          <a:xfrm>
            <a:off x="6317433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078FE75-ADE7-38ED-92E9-C4DD5F100516}"/>
              </a:ext>
            </a:extLst>
          </p:cNvPr>
          <p:cNvCxnSpPr>
            <a:cxnSpLocks/>
          </p:cNvCxnSpPr>
          <p:nvPr/>
        </p:nvCxnSpPr>
        <p:spPr>
          <a:xfrm>
            <a:off x="7753720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6BD282C0-62A8-57D0-275B-FAE0BF2682C5}"/>
              </a:ext>
            </a:extLst>
          </p:cNvPr>
          <p:cNvSpPr/>
          <p:nvPr/>
        </p:nvSpPr>
        <p:spPr>
          <a:xfrm>
            <a:off x="5757000" y="1548215"/>
            <a:ext cx="631111" cy="1045460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3F08B15-6FF1-1A5F-6FBA-109E9F1B5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880" y="4667692"/>
            <a:ext cx="3446240" cy="199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968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6C05A5-631A-95DA-BEC8-2C9B183BD8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29087"/>
                <a:ext cx="10515600" cy="5647876"/>
              </a:xfrm>
            </p:spPr>
            <p:txBody>
              <a:bodyPr/>
              <a:lstStyle/>
              <a:p>
                <a:r>
                  <a:rPr lang="ko-KR" altLang="en-US"/>
                  <a:t>이 경우의 고유 벡터를 구해보자</a:t>
                </a:r>
                <a:r>
                  <a:rPr lang="en-US" altLang="ko-KR"/>
                  <a:t>. </a:t>
                </a:r>
                <a:r>
                  <a:rPr lang="ko-KR" altLang="en-US"/>
                  <a:t>루프가 없는 경우의 고유벡터는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en-US" altLang="ko-KR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ko-KR" altLang="en-US"/>
                  <a:t>였는데 </a:t>
                </a:r>
                <a:r>
                  <a:rPr lang="en-US" altLang="ko-KR"/>
                  <a:t>ansatz</a:t>
                </a:r>
                <a:r>
                  <a:rPr lang="ko-KR" altLang="en-US"/>
                  <a:t>로써 다음과 같은 해를 가정할 수 있다</a:t>
                </a:r>
                <a:r>
                  <a:rPr lang="en-US" altLang="ko-KR"/>
                  <a:t>. (</a:t>
                </a:r>
                <a:r>
                  <a:rPr lang="ko-KR" altLang="en-US"/>
                  <a:t>투과</a:t>
                </a:r>
                <a:r>
                  <a:rPr lang="en-US" altLang="ko-KR"/>
                  <a:t>, </a:t>
                </a:r>
                <a:r>
                  <a:rPr lang="ko-KR" altLang="en-US"/>
                  <a:t>반사 가정</a:t>
                </a:r>
                <a:r>
                  <a:rPr lang="en-US" altLang="ko-KR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𝑖𝑘𝑥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𝑖𝑘𝑥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&amp; 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≤0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𝑖𝑘𝑥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≥0</m:t>
                                  </m:r>
                                </m:e>
                              </m:d>
                            </m:e>
                          </m:eqArr>
                        </m:e>
                      </m:d>
                    </m:oMath>
                  </m:oMathPara>
                </a14:m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𝐻𝑣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b="0"/>
                  <a:t>에 대입하면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m:rPr>
                            <m:lit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func>
                          <m:func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func>
                      </m:den>
                    </m:f>
                  </m:oMath>
                </a14:m>
                <a:r>
                  <a:rPr lang="ko-KR" altLang="en-US" b="0"/>
                  <a:t>임을 구할 수 있다</a:t>
                </a:r>
                <a:r>
                  <a:rPr lang="en-US" altLang="ko-KR" b="0"/>
                  <a:t>.</a:t>
                </a:r>
              </a:p>
              <a:p>
                <a:r>
                  <a:rPr lang="ko-KR" altLang="en-US"/>
                  <a:t>투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과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는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파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동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크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기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는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lit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func>
                          <m:func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func>
                      </m:den>
                    </m:f>
                  </m:oMath>
                </a14:m>
                <a:r>
                  <a:rPr lang="ko-KR" altLang="en-US" b="0"/>
                  <a:t>가 된다</a:t>
                </a:r>
                <a:r>
                  <a:rPr lang="en-US" altLang="ko-KR" b="0"/>
                  <a:t>.</a:t>
                </a:r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6C05A5-631A-95DA-BEC8-2C9B183BD8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29087"/>
                <a:ext cx="10515600" cy="5647876"/>
              </a:xfrm>
              <a:blipFill>
                <a:blip r:embed="rId2"/>
                <a:stretch>
                  <a:fillRect l="-1043" t="-1944" r="-5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24197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30FACA-4E20-6DEA-4470-BB855B634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엣지 </a:t>
            </a:r>
            <a:r>
              <a:rPr lang="en-US" altLang="ko-KR"/>
              <a:t>+ </a:t>
            </a:r>
            <a:r>
              <a:rPr lang="ko-KR" altLang="en-US"/>
              <a:t>루프 첨가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E8CC3D26-F94F-DCF4-B20E-366F95E75B7A}"/>
              </a:ext>
            </a:extLst>
          </p:cNvPr>
          <p:cNvSpPr/>
          <p:nvPr/>
        </p:nvSpPr>
        <p:spPr>
          <a:xfrm>
            <a:off x="7237540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88052CD-3EB6-9A69-1CA8-E198002CB954}"/>
              </a:ext>
            </a:extLst>
          </p:cNvPr>
          <p:cNvSpPr/>
          <p:nvPr/>
        </p:nvSpPr>
        <p:spPr>
          <a:xfrm>
            <a:off x="5801253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1CA595C6-A1E7-BF16-3424-D49858EEDD1E}"/>
              </a:ext>
            </a:extLst>
          </p:cNvPr>
          <p:cNvSpPr/>
          <p:nvPr/>
        </p:nvSpPr>
        <p:spPr>
          <a:xfrm>
            <a:off x="4364966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090AFCD-670E-E49C-3439-D7942238CB04}"/>
              </a:ext>
            </a:extLst>
          </p:cNvPr>
          <p:cNvSpPr/>
          <p:nvPr/>
        </p:nvSpPr>
        <p:spPr>
          <a:xfrm>
            <a:off x="8673827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F1C9A40-D7B2-D996-5639-EE4AA809F912}"/>
              </a:ext>
            </a:extLst>
          </p:cNvPr>
          <p:cNvSpPr/>
          <p:nvPr/>
        </p:nvSpPr>
        <p:spPr>
          <a:xfrm>
            <a:off x="10110114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B68404A-F1D6-CC30-229F-FA662C9C12B0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4957357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FC2ADD3-C125-3847-FEA0-9B990FAB8799}"/>
              </a:ext>
            </a:extLst>
          </p:cNvPr>
          <p:cNvCxnSpPr>
            <a:cxnSpLocks/>
          </p:cNvCxnSpPr>
          <p:nvPr/>
        </p:nvCxnSpPr>
        <p:spPr>
          <a:xfrm>
            <a:off x="6393644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D6A4EA3-AA9F-D4A6-5F18-B63AE48F97D4}"/>
              </a:ext>
            </a:extLst>
          </p:cNvPr>
          <p:cNvCxnSpPr>
            <a:cxnSpLocks/>
          </p:cNvCxnSpPr>
          <p:nvPr/>
        </p:nvCxnSpPr>
        <p:spPr>
          <a:xfrm>
            <a:off x="7829931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AC8D131-AD2E-4D75-4F72-1E6E86B206CB}"/>
              </a:ext>
            </a:extLst>
          </p:cNvPr>
          <p:cNvCxnSpPr>
            <a:cxnSpLocks/>
          </p:cNvCxnSpPr>
          <p:nvPr/>
        </p:nvCxnSpPr>
        <p:spPr>
          <a:xfrm>
            <a:off x="9266218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E49A78FF-21E5-2EA6-058E-AA47DA3BB268}"/>
              </a:ext>
            </a:extLst>
          </p:cNvPr>
          <p:cNvSpPr/>
          <p:nvPr/>
        </p:nvSpPr>
        <p:spPr>
          <a:xfrm>
            <a:off x="7269498" y="701615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AFBCE44-BA30-F53D-C3D0-C8CA1F94C385}"/>
              </a:ext>
            </a:extLst>
          </p:cNvPr>
          <p:cNvSpPr/>
          <p:nvPr/>
        </p:nvSpPr>
        <p:spPr>
          <a:xfrm>
            <a:off x="7237540" y="1351404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BF2F44F-1823-9415-9A98-DDE4CDF99A88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V="1">
            <a:off x="7533736" y="1943795"/>
            <a:ext cx="0" cy="51756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BAFF71E-62F2-D20D-FF26-A7935F38E71B}"/>
                  </a:ext>
                </a:extLst>
              </p:cNvPr>
              <p:cNvSpPr txBox="1"/>
              <p:nvPr/>
            </p:nvSpPr>
            <p:spPr>
              <a:xfrm>
                <a:off x="8031192" y="564458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BAFF71E-62F2-D20D-FF26-A7935F38E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192" y="564458"/>
                <a:ext cx="319177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DBEED3-FE7E-050A-55A1-F7F128CD718A}"/>
                  </a:ext>
                </a:extLst>
              </p:cNvPr>
              <p:cNvSpPr txBox="1"/>
              <p:nvPr/>
            </p:nvSpPr>
            <p:spPr>
              <a:xfrm>
                <a:off x="7723516" y="1943795"/>
                <a:ext cx="654116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DBEED3-FE7E-050A-55A1-F7F128CD7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516" y="1943795"/>
                <a:ext cx="654116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내용 개체 틀 2">
                <a:extLst>
                  <a:ext uri="{FF2B5EF4-FFF2-40B4-BE49-F238E27FC236}">
                    <a16:creationId xmlns:a16="http://schemas.microsoft.com/office/drawing/2014/main" id="{CBB5180E-2BB5-F174-9B94-5BB1A81FCF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/>
                  <a:t> 이 경우 전이 행렬은 새로운 정점 </a:t>
                </a:r>
                <a:r>
                  <a:rPr lang="en-US" altLang="ko-KR"/>
                  <a:t>u</a:t>
                </a:r>
                <a:r>
                  <a:rPr lang="ko-KR" altLang="en-US"/>
                  <a:t>에 대한 행</a:t>
                </a:r>
                <a:r>
                  <a:rPr lang="en-US" altLang="ko-KR"/>
                  <a:t>, </a:t>
                </a:r>
                <a:r>
                  <a:rPr lang="ko-KR" altLang="en-US"/>
                  <a:t>열이 추가되고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b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b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𝑢𝑢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b="0"/>
                  <a:t>는 조건이 추가된다</a:t>
                </a:r>
                <a:r>
                  <a:rPr lang="en-US" altLang="ko-KR" b="0"/>
                  <a:t>. </a:t>
                </a:r>
                <a:endParaRPr lang="en-US" altLang="ko-KR"/>
              </a:p>
              <a:p>
                <a:r>
                  <a:rPr lang="ko-KR" altLang="en-US" b="0"/>
                  <a:t>이때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𝐻𝑢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ko-KR" altLang="en-US" b="0"/>
                  <a:t>를 풀면</a:t>
                </a:r>
                <a:r>
                  <a:rPr lang="en-US" altLang="ko-KR" b="0"/>
                  <a:t>, </a:t>
                </a:r>
                <a:r>
                  <a:rPr lang="ko-KR" altLang="en-US" b="0"/>
                  <a:t>루프 한 개 첨가했을 때와 동일한 형태의</a:t>
                </a:r>
                <a:r>
                  <a:rPr lang="en-US" altLang="ko-KR" b="0"/>
                  <a:t> </a:t>
                </a:r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m:rPr>
                              <m:lit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func>
                        </m:den>
                      </m:f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lit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  <m:r>
                        <m:rPr>
                          <m:lit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:r>
                  <a:rPr lang="ko-KR" altLang="en-US">
                    <a:latin typeface="Cambria Math" panose="02040503050406030204" pitchFamily="18" charset="0"/>
                  </a:rPr>
                  <a:t>가 나온다</a:t>
                </a:r>
                <a:r>
                  <a:rPr lang="en-US" altLang="ko-KR">
                    <a:latin typeface="Cambria Math" panose="02040503050406030204" pitchFamily="18" charset="0"/>
                  </a:rPr>
                  <a:t>.</a:t>
                </a:r>
                <a:endParaRPr lang="en-US" altLang="ko-KR" b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21" name="내용 개체 틀 2">
                <a:extLst>
                  <a:ext uri="{FF2B5EF4-FFF2-40B4-BE49-F238E27FC236}">
                    <a16:creationId xmlns:a16="http://schemas.microsoft.com/office/drawing/2014/main" id="{CBB5180E-2BB5-F174-9B94-5BB1A81FCF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  <a:blipFill>
                <a:blip r:embed="rId4"/>
                <a:stretch>
                  <a:fillRect l="-1043" t="-3769" r="-232" b="-53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28558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784740-54B7-C7F9-2B7C-A32A537DD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32273"/>
            <a:ext cx="10515600" cy="2001778"/>
          </a:xfrm>
        </p:spPr>
        <p:txBody>
          <a:bodyPr/>
          <a:lstStyle/>
          <a:p>
            <a:r>
              <a:rPr lang="ko-KR" altLang="en-US"/>
              <a:t>따라서 이렇게 환원 가능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F49E186A-1BD5-25F1-9720-3AAE836FC196}"/>
              </a:ext>
            </a:extLst>
          </p:cNvPr>
          <p:cNvSpPr/>
          <p:nvPr/>
        </p:nvSpPr>
        <p:spPr>
          <a:xfrm>
            <a:off x="3522430" y="3486487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CC9C70A7-8A1C-E5DD-2787-89C9B4E20F52}"/>
              </a:ext>
            </a:extLst>
          </p:cNvPr>
          <p:cNvSpPr/>
          <p:nvPr/>
        </p:nvSpPr>
        <p:spPr>
          <a:xfrm>
            <a:off x="3554388" y="1726743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1869D7A1-659C-5042-A7B3-B3EEE95C9580}"/>
              </a:ext>
            </a:extLst>
          </p:cNvPr>
          <p:cNvSpPr/>
          <p:nvPr/>
        </p:nvSpPr>
        <p:spPr>
          <a:xfrm>
            <a:off x="3522430" y="2376532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1A5E52F8-4414-2ECF-A365-0FC791B101EE}"/>
              </a:ext>
            </a:extLst>
          </p:cNvPr>
          <p:cNvCxnSpPr>
            <a:cxnSpLocks/>
            <a:stCxn id="4" idx="0"/>
            <a:endCxn id="6" idx="4"/>
          </p:cNvCxnSpPr>
          <p:nvPr/>
        </p:nvCxnSpPr>
        <p:spPr>
          <a:xfrm flipV="1">
            <a:off x="3818626" y="2968923"/>
            <a:ext cx="0" cy="51756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E586A9-63F3-13F5-712E-270CA6CF31D2}"/>
                  </a:ext>
                </a:extLst>
              </p:cNvPr>
              <p:cNvSpPr txBox="1"/>
              <p:nvPr/>
            </p:nvSpPr>
            <p:spPr>
              <a:xfrm>
                <a:off x="4316082" y="1589586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E586A9-63F3-13F5-712E-270CA6CF3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6082" y="1589586"/>
                <a:ext cx="319177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7D8C09-7DE9-70A7-4B3E-9A75EB71E2AA}"/>
                  </a:ext>
                </a:extLst>
              </p:cNvPr>
              <p:cNvSpPr txBox="1"/>
              <p:nvPr/>
            </p:nvSpPr>
            <p:spPr>
              <a:xfrm>
                <a:off x="4008406" y="2968923"/>
                <a:ext cx="654116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7D8C09-7DE9-70A7-4B3E-9A75EB71E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406" y="2968923"/>
                <a:ext cx="654116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D7EACDDC-4410-245B-551A-7B5B6474324A}"/>
              </a:ext>
            </a:extLst>
          </p:cNvPr>
          <p:cNvSpPr/>
          <p:nvPr/>
        </p:nvSpPr>
        <p:spPr>
          <a:xfrm>
            <a:off x="6969047" y="2779211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437EB08-5B5B-E169-6F6A-1202079890CD}"/>
              </a:ext>
            </a:extLst>
          </p:cNvPr>
          <p:cNvSpPr/>
          <p:nvPr/>
        </p:nvSpPr>
        <p:spPr>
          <a:xfrm>
            <a:off x="6937089" y="342900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2B40D6-29DE-DED8-0A87-5966B9BAC248}"/>
                  </a:ext>
                </a:extLst>
              </p:cNvPr>
              <p:cNvSpPr txBox="1"/>
              <p:nvPr/>
            </p:nvSpPr>
            <p:spPr>
              <a:xfrm>
                <a:off x="7529480" y="2034611"/>
                <a:ext cx="638355" cy="833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</m:oMath>
                  </m:oMathPara>
                </a14:m>
                <a:endParaRPr lang="ko-KR" altLang="en-US" sz="240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2B40D6-29DE-DED8-0A87-5966B9BAC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9480" y="2034611"/>
                <a:ext cx="638355" cy="833498"/>
              </a:xfrm>
              <a:prstGeom prst="rect">
                <a:avLst/>
              </a:prstGeom>
              <a:blipFill>
                <a:blip r:embed="rId4"/>
                <a:stretch>
                  <a:fillRect r="-276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1D0C89D-458E-2417-2895-DB0FD4D8A0F3}"/>
              </a:ext>
            </a:extLst>
          </p:cNvPr>
          <p:cNvCxnSpPr/>
          <p:nvPr/>
        </p:nvCxnSpPr>
        <p:spPr>
          <a:xfrm>
            <a:off x="5282648" y="3145735"/>
            <a:ext cx="74543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0058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0254A6-EFB2-992E-45B0-EA47C0FA2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브랜치 첨가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8ECD912-8770-C661-1C3B-020DCA0B99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002657"/>
                <a:ext cx="10515600" cy="2174306"/>
              </a:xfrm>
            </p:spPr>
            <p:txBody>
              <a:bodyPr/>
              <a:lstStyle/>
              <a:p>
                <a:r>
                  <a:rPr lang="ko-KR" altLang="en-US"/>
                  <a:t>위와 같이 두 개의 엣지를 첨가한 경우</a:t>
                </a:r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8ECD912-8770-C661-1C3B-020DCA0B99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02657"/>
                <a:ext cx="10515600" cy="2174306"/>
              </a:xfrm>
              <a:blipFill>
                <a:blip r:embed="rId2"/>
                <a:stretch>
                  <a:fillRect l="-1043" t="-50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72ED1020-2654-EAAB-710B-A25BC6BA2701}"/>
              </a:ext>
            </a:extLst>
          </p:cNvPr>
          <p:cNvSpPr/>
          <p:nvPr/>
        </p:nvSpPr>
        <p:spPr>
          <a:xfrm>
            <a:off x="7237540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9E84CA0-7001-E6FC-0795-234E63C561B3}"/>
              </a:ext>
            </a:extLst>
          </p:cNvPr>
          <p:cNvSpPr/>
          <p:nvPr/>
        </p:nvSpPr>
        <p:spPr>
          <a:xfrm>
            <a:off x="5801253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D56F5DCD-B64F-EB23-FD9B-B1B4EFA7FBAE}"/>
              </a:ext>
            </a:extLst>
          </p:cNvPr>
          <p:cNvSpPr/>
          <p:nvPr/>
        </p:nvSpPr>
        <p:spPr>
          <a:xfrm>
            <a:off x="4364966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1D74C72-F5C3-3055-38B2-548D33A7CBBB}"/>
              </a:ext>
            </a:extLst>
          </p:cNvPr>
          <p:cNvSpPr/>
          <p:nvPr/>
        </p:nvSpPr>
        <p:spPr>
          <a:xfrm>
            <a:off x="8673827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5F39D78-A13A-202A-02BD-E027A0DA6871}"/>
              </a:ext>
            </a:extLst>
          </p:cNvPr>
          <p:cNvSpPr/>
          <p:nvPr/>
        </p:nvSpPr>
        <p:spPr>
          <a:xfrm>
            <a:off x="10110114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0E4CE47-18F9-2A7F-CF54-0A51B6B86397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4957357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6D5E93B-D13C-269B-8ECC-6A99741413B2}"/>
              </a:ext>
            </a:extLst>
          </p:cNvPr>
          <p:cNvCxnSpPr>
            <a:cxnSpLocks/>
          </p:cNvCxnSpPr>
          <p:nvPr/>
        </p:nvCxnSpPr>
        <p:spPr>
          <a:xfrm>
            <a:off x="6393644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F905691-316E-C4C3-8540-7A9196E52366}"/>
              </a:ext>
            </a:extLst>
          </p:cNvPr>
          <p:cNvCxnSpPr>
            <a:cxnSpLocks/>
          </p:cNvCxnSpPr>
          <p:nvPr/>
        </p:nvCxnSpPr>
        <p:spPr>
          <a:xfrm>
            <a:off x="7829931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86A46C85-61BD-BFAA-6C8A-8CC275DDCF62}"/>
              </a:ext>
            </a:extLst>
          </p:cNvPr>
          <p:cNvCxnSpPr>
            <a:cxnSpLocks/>
          </p:cNvCxnSpPr>
          <p:nvPr/>
        </p:nvCxnSpPr>
        <p:spPr>
          <a:xfrm>
            <a:off x="9266218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D8B8FE95-4775-38DC-6F3F-2ED781542870}"/>
              </a:ext>
            </a:extLst>
          </p:cNvPr>
          <p:cNvSpPr/>
          <p:nvPr/>
        </p:nvSpPr>
        <p:spPr>
          <a:xfrm>
            <a:off x="6596638" y="718778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AAE6C82-AC90-868C-2BF5-86F750237739}"/>
              </a:ext>
            </a:extLst>
          </p:cNvPr>
          <p:cNvSpPr/>
          <p:nvPr/>
        </p:nvSpPr>
        <p:spPr>
          <a:xfrm>
            <a:off x="6564680" y="1368567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855EB96-0A6D-2F0C-89A6-D1FDFF15AA21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H="1" flipV="1">
            <a:off x="6860876" y="1960958"/>
            <a:ext cx="672860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D0DE090-178A-52B5-BD39-BB83FB548B99}"/>
                  </a:ext>
                </a:extLst>
              </p:cNvPr>
              <p:cNvSpPr txBox="1"/>
              <p:nvPr/>
            </p:nvSpPr>
            <p:spPr>
              <a:xfrm>
                <a:off x="6656003" y="178440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D0DE090-178A-52B5-BD39-BB83FB548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6003" y="178440"/>
                <a:ext cx="319177" cy="430887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A6855-FC23-1628-4D90-03A6811080BA}"/>
                  </a:ext>
                </a:extLst>
              </p:cNvPr>
              <p:cNvSpPr txBox="1"/>
              <p:nvPr/>
            </p:nvSpPr>
            <p:spPr>
              <a:xfrm>
                <a:off x="6795949" y="1966502"/>
                <a:ext cx="950311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800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2800" b="0"/>
                  <a:t>=1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A6855-FC23-1628-4D90-03A681108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949" y="1966502"/>
                <a:ext cx="950311" cy="430887"/>
              </a:xfrm>
              <a:prstGeom prst="rect">
                <a:avLst/>
              </a:prstGeom>
              <a:blipFill>
                <a:blip r:embed="rId4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9448B6E8-4DA2-8FC9-9545-9A6968C38746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7533736" y="1960958"/>
            <a:ext cx="693339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08A609F-8D14-6FF5-75D6-CD0758499E76}"/>
              </a:ext>
            </a:extLst>
          </p:cNvPr>
          <p:cNvSpPr/>
          <p:nvPr/>
        </p:nvSpPr>
        <p:spPr>
          <a:xfrm>
            <a:off x="8043307" y="713234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208104B5-EF1C-A62D-E0F3-19481D7B1264}"/>
              </a:ext>
            </a:extLst>
          </p:cNvPr>
          <p:cNvSpPr/>
          <p:nvPr/>
        </p:nvSpPr>
        <p:spPr>
          <a:xfrm>
            <a:off x="8011349" y="1363023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DA257C-E43A-25B1-3982-EA7B7E32FA3E}"/>
                  </a:ext>
                </a:extLst>
              </p:cNvPr>
              <p:cNvSpPr txBox="1"/>
              <p:nvPr/>
            </p:nvSpPr>
            <p:spPr>
              <a:xfrm>
                <a:off x="8102672" y="172896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DA257C-E43A-25B1-3982-EA7B7E32F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2672" y="172896"/>
                <a:ext cx="319177" cy="430887"/>
              </a:xfrm>
              <a:prstGeom prst="rect">
                <a:avLst/>
              </a:prstGeom>
              <a:blipFill>
                <a:blip r:embed="rId5"/>
                <a:stretch>
                  <a:fillRect r="-7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BECF3E-47B0-4069-713B-407120400564}"/>
                  </a:ext>
                </a:extLst>
              </p:cNvPr>
              <p:cNvSpPr txBox="1"/>
              <p:nvPr/>
            </p:nvSpPr>
            <p:spPr>
              <a:xfrm>
                <a:off x="7617774" y="1966502"/>
                <a:ext cx="950311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800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2800" b="0"/>
                  <a:t>=1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BECF3E-47B0-4069-713B-407120400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7774" y="1966502"/>
                <a:ext cx="950311" cy="430887"/>
              </a:xfrm>
              <a:prstGeom prst="rect">
                <a:avLst/>
              </a:prstGeom>
              <a:blipFill>
                <a:blip r:embed="rId6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7443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E9E3C7CE-D6A3-90D7-F5E9-C2B47099C60E}"/>
              </a:ext>
            </a:extLst>
          </p:cNvPr>
          <p:cNvSpPr/>
          <p:nvPr/>
        </p:nvSpPr>
        <p:spPr>
          <a:xfrm>
            <a:off x="3464921" y="4295295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B19FD240-6429-9741-5A9F-B78D280EE682}"/>
              </a:ext>
            </a:extLst>
          </p:cNvPr>
          <p:cNvSpPr/>
          <p:nvPr/>
        </p:nvSpPr>
        <p:spPr>
          <a:xfrm>
            <a:off x="2824019" y="2552714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A18641C-B236-C925-A996-874B02D1C2BC}"/>
              </a:ext>
            </a:extLst>
          </p:cNvPr>
          <p:cNvSpPr/>
          <p:nvPr/>
        </p:nvSpPr>
        <p:spPr>
          <a:xfrm>
            <a:off x="2792061" y="3202503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2FBDA50A-2B24-EAC0-565A-57E09733F521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H="1" flipV="1">
            <a:off x="3088257" y="3794894"/>
            <a:ext cx="672860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50F84E9-694C-D74F-1CB5-DEF4E2DD91A3}"/>
                  </a:ext>
                </a:extLst>
              </p:cNvPr>
              <p:cNvSpPr txBox="1"/>
              <p:nvPr/>
            </p:nvSpPr>
            <p:spPr>
              <a:xfrm>
                <a:off x="2883384" y="2012376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50F84E9-694C-D74F-1CB5-DEF4E2DD9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3384" y="2012376"/>
                <a:ext cx="319177" cy="430887"/>
              </a:xfrm>
              <a:prstGeom prst="rect">
                <a:avLst/>
              </a:prstGeom>
              <a:blipFill>
                <a:blip r:embed="rId2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161E952C-75C6-894B-7FED-524C4CA06056}"/>
              </a:ext>
            </a:extLst>
          </p:cNvPr>
          <p:cNvSpPr txBox="1"/>
          <p:nvPr/>
        </p:nvSpPr>
        <p:spPr>
          <a:xfrm>
            <a:off x="3008568" y="3945160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55E0A56A-31DB-ACE2-62C1-B5C9C6B4C834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3761117" y="3794894"/>
            <a:ext cx="693339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ECA41E6-EBF4-7AD9-E2A7-CE72EEA7E610}"/>
              </a:ext>
            </a:extLst>
          </p:cNvPr>
          <p:cNvSpPr/>
          <p:nvPr/>
        </p:nvSpPr>
        <p:spPr>
          <a:xfrm>
            <a:off x="4270688" y="2547170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8486BEC5-BEDC-9697-C6B7-48BFA85CC18D}"/>
              </a:ext>
            </a:extLst>
          </p:cNvPr>
          <p:cNvSpPr/>
          <p:nvPr/>
        </p:nvSpPr>
        <p:spPr>
          <a:xfrm>
            <a:off x="4238730" y="31969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3869B7-10AB-D0F5-B0BA-0AB661995B7E}"/>
                  </a:ext>
                </a:extLst>
              </p:cNvPr>
              <p:cNvSpPr txBox="1"/>
              <p:nvPr/>
            </p:nvSpPr>
            <p:spPr>
              <a:xfrm>
                <a:off x="4330053" y="2006832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3869B7-10AB-D0F5-B0BA-0AB661995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053" y="2006832"/>
                <a:ext cx="319177" cy="430887"/>
              </a:xfrm>
              <a:prstGeom prst="rect">
                <a:avLst/>
              </a:prstGeom>
              <a:blipFill>
                <a:blip r:embed="rId3"/>
                <a:stretch>
                  <a:fillRect r="-7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E69B54C-7FD4-48AE-3624-1267270E5A60}"/>
              </a:ext>
            </a:extLst>
          </p:cNvPr>
          <p:cNvSpPr txBox="1"/>
          <p:nvPr/>
        </p:nvSpPr>
        <p:spPr>
          <a:xfrm>
            <a:off x="4295309" y="3932904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B052A46B-ED60-B0BE-B3B7-A1D14602111A}"/>
              </a:ext>
            </a:extLst>
          </p:cNvPr>
          <p:cNvSpPr/>
          <p:nvPr/>
        </p:nvSpPr>
        <p:spPr>
          <a:xfrm>
            <a:off x="6969047" y="3195516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A02F147-6CC1-9E14-DBA6-22500BB141B2}"/>
              </a:ext>
            </a:extLst>
          </p:cNvPr>
          <p:cNvSpPr/>
          <p:nvPr/>
        </p:nvSpPr>
        <p:spPr>
          <a:xfrm>
            <a:off x="6937089" y="3845305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C8FCF8D-9557-868D-7181-1757DCFA2D86}"/>
                  </a:ext>
                </a:extLst>
              </p:cNvPr>
              <p:cNvSpPr txBox="1"/>
              <p:nvPr/>
            </p:nvSpPr>
            <p:spPr>
              <a:xfrm>
                <a:off x="5958613" y="2354954"/>
                <a:ext cx="3655273" cy="12159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sz="2400"/>
              </a:p>
              <a:p>
                <a:endParaRPr lang="ko-KR" altLang="en-US" sz="240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C8FCF8D-9557-868D-7181-1757DCFA2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613" y="2354954"/>
                <a:ext cx="3655273" cy="12159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B00BDA3F-341A-F77D-A607-4B5635AF3937}"/>
              </a:ext>
            </a:extLst>
          </p:cNvPr>
          <p:cNvCxnSpPr/>
          <p:nvPr/>
        </p:nvCxnSpPr>
        <p:spPr>
          <a:xfrm>
            <a:off x="5481431" y="3789350"/>
            <a:ext cx="74543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87031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BD940-868F-39C2-2F76-91BEEAA3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축약 규칙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3D10D58-AD97-C2FB-52A3-CF670AB3D5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40533"/>
                <a:ext cx="10515600" cy="4351338"/>
              </a:xfrm>
            </p:spPr>
            <p:txBody>
              <a:bodyPr/>
              <a:lstStyle/>
              <a:p>
                <a:r>
                  <a:rPr lang="ko-KR" altLang="en-US"/>
                  <a:t>만약 고윳값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ko-KR" altLang="en-US"/>
                  <a:t>가 </a:t>
                </a:r>
                <a:r>
                  <a:rPr lang="en-US" altLang="ko-KR"/>
                  <a:t>0</a:t>
                </a:r>
                <a:r>
                  <a:rPr lang="ko-KR" altLang="en-US"/>
                  <a:t>이 되도록 하는 파동</a:t>
                </a:r>
                <a:r>
                  <a:rPr lang="en-US" altLang="ko-KR"/>
                  <a:t>(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𝜋</m:t>
                    </m:r>
                    <m:r>
                      <m:rPr>
                        <m:lit/>
                      </m:rPr>
                      <a:rPr lang="en-US" altLang="ko-KR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lang="ko-KR" altLang="en-US"/>
                  <a:t> 만 존재한다고 가정하면</a:t>
                </a:r>
                <a:endParaRPr lang="en-US" altLang="ko-KR"/>
              </a:p>
              <a:p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3D10D58-AD97-C2FB-52A3-CF670AB3D5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40533"/>
                <a:ext cx="10515600" cy="4351338"/>
              </a:xfrm>
              <a:blipFill>
                <a:blip r:embed="rId2"/>
                <a:stretch>
                  <a:fillRect l="-1043" t="-2521" r="-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5F67DE70-A6B2-B036-18E0-9D02D947E6F0}"/>
              </a:ext>
            </a:extLst>
          </p:cNvPr>
          <p:cNvSpPr/>
          <p:nvPr/>
        </p:nvSpPr>
        <p:spPr>
          <a:xfrm>
            <a:off x="4056300" y="5430722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41CA334-EC9E-256B-FA78-F7FE15E50F15}"/>
              </a:ext>
            </a:extLst>
          </p:cNvPr>
          <p:cNvSpPr/>
          <p:nvPr/>
        </p:nvSpPr>
        <p:spPr>
          <a:xfrm>
            <a:off x="3415398" y="3688141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BE4C002C-7608-9C08-AEB0-2FF2706548F6}"/>
              </a:ext>
            </a:extLst>
          </p:cNvPr>
          <p:cNvSpPr/>
          <p:nvPr/>
        </p:nvSpPr>
        <p:spPr>
          <a:xfrm>
            <a:off x="3383440" y="433793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8875056-B4B2-B776-B582-884AEE581B80}"/>
              </a:ext>
            </a:extLst>
          </p:cNvPr>
          <p:cNvCxnSpPr>
            <a:cxnSpLocks/>
            <a:stCxn id="4" idx="0"/>
            <a:endCxn id="6" idx="4"/>
          </p:cNvCxnSpPr>
          <p:nvPr/>
        </p:nvCxnSpPr>
        <p:spPr>
          <a:xfrm flipH="1" flipV="1">
            <a:off x="3679636" y="4930321"/>
            <a:ext cx="672860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0F9E92-28A6-3B45-A958-AA665AE3D641}"/>
                  </a:ext>
                </a:extLst>
              </p:cNvPr>
              <p:cNvSpPr txBox="1"/>
              <p:nvPr/>
            </p:nvSpPr>
            <p:spPr>
              <a:xfrm>
                <a:off x="3474763" y="3147803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0F9E92-28A6-3B45-A958-AA665AE3D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63" y="3147803"/>
                <a:ext cx="319177" cy="430887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4535D2C-DB6E-EC9D-B0FF-69527821BAF3}"/>
              </a:ext>
            </a:extLst>
          </p:cNvPr>
          <p:cNvSpPr txBox="1"/>
          <p:nvPr/>
        </p:nvSpPr>
        <p:spPr>
          <a:xfrm>
            <a:off x="3599947" y="5080587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1AD6439-333A-7248-CA0A-D88D717F3F6D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4352496" y="4930321"/>
            <a:ext cx="693339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56F6D794-0316-3A2E-5871-5EA1906EEFDF}"/>
              </a:ext>
            </a:extLst>
          </p:cNvPr>
          <p:cNvSpPr/>
          <p:nvPr/>
        </p:nvSpPr>
        <p:spPr>
          <a:xfrm>
            <a:off x="4862067" y="3682597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11D5C15-FCD4-95B0-F909-4AF5DAD843C9}"/>
              </a:ext>
            </a:extLst>
          </p:cNvPr>
          <p:cNvSpPr/>
          <p:nvPr/>
        </p:nvSpPr>
        <p:spPr>
          <a:xfrm>
            <a:off x="4830109" y="4332386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B478EC-AE66-0AFF-CB88-E1E299639B5F}"/>
                  </a:ext>
                </a:extLst>
              </p:cNvPr>
              <p:cNvSpPr txBox="1"/>
              <p:nvPr/>
            </p:nvSpPr>
            <p:spPr>
              <a:xfrm>
                <a:off x="4921432" y="3142259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B478EC-AE66-0AFF-CB88-E1E299639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1432" y="3142259"/>
                <a:ext cx="319177" cy="430887"/>
              </a:xfrm>
              <a:prstGeom prst="rect">
                <a:avLst/>
              </a:prstGeom>
              <a:blipFill>
                <a:blip r:embed="rId4"/>
                <a:stretch>
                  <a:fillRect r="-7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D9409D3-0B30-E9E9-1E39-B01B31C37171}"/>
              </a:ext>
            </a:extLst>
          </p:cNvPr>
          <p:cNvSpPr txBox="1"/>
          <p:nvPr/>
        </p:nvSpPr>
        <p:spPr>
          <a:xfrm>
            <a:off x="4886688" y="5068331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705A6992-5A54-5EFA-F7CA-EAD4A72F0B99}"/>
              </a:ext>
            </a:extLst>
          </p:cNvPr>
          <p:cNvSpPr/>
          <p:nvPr/>
        </p:nvSpPr>
        <p:spPr>
          <a:xfrm>
            <a:off x="7560426" y="4330943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50B5641F-667A-E512-3E5E-FACA90679EAA}"/>
              </a:ext>
            </a:extLst>
          </p:cNvPr>
          <p:cNvSpPr/>
          <p:nvPr/>
        </p:nvSpPr>
        <p:spPr>
          <a:xfrm>
            <a:off x="7528468" y="4980732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0E22D4-C87B-3CEA-BCC1-8E1A3C61C434}"/>
                  </a:ext>
                </a:extLst>
              </p:cNvPr>
              <p:cNvSpPr txBox="1"/>
              <p:nvPr/>
            </p:nvSpPr>
            <p:spPr>
              <a:xfrm>
                <a:off x="6048344" y="3251342"/>
                <a:ext cx="3655273" cy="12159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2400" b="0"/>
              </a:p>
              <a:p>
                <a:pPr/>
                <a:endParaRPr lang="ko-KR" altLang="en-US" sz="240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0E22D4-C87B-3CEA-BCC1-8E1A3C61C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8344" y="3251342"/>
                <a:ext cx="3655273" cy="12159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8DF876F-D2BD-CEB7-5D89-8413C2F66483}"/>
              </a:ext>
            </a:extLst>
          </p:cNvPr>
          <p:cNvCxnSpPr/>
          <p:nvPr/>
        </p:nvCxnSpPr>
        <p:spPr>
          <a:xfrm>
            <a:off x="6072810" y="4924777"/>
            <a:ext cx="74543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90780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C23BBE9-BFA0-1CFA-8596-191E8C2D4F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816049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b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둘</m:t>
                    </m:r>
                  </m:oMath>
                </a14:m>
                <a:r>
                  <a:rPr lang="en-US" altLang="ko-KR" b="0"/>
                  <a:t> </a:t>
                </a:r>
                <a:r>
                  <a:rPr lang="ko-KR" altLang="en-US" b="0"/>
                  <a:t>중 적어도 하나가 </a:t>
                </a:r>
                <a:r>
                  <a:rPr lang="en-US" altLang="ko-KR" b="0"/>
                  <a:t>0</a:t>
                </a:r>
                <a:r>
                  <a:rPr lang="ko-KR" altLang="en-US"/>
                  <a:t> </a:t>
                </a:r>
                <a:r>
                  <a:rPr lang="en-US" altLang="ko-KR"/>
                  <a:t>:</a:t>
                </a:r>
                <a:r>
                  <a:rPr lang="en-US" altLang="ko-KR" b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/>
                  <a:t> </a:t>
                </a:r>
                <a:r>
                  <a:rPr lang="ko-KR" altLang="en-US"/>
                  <a:t>∞</a:t>
                </a:r>
                <a:endParaRPr lang="en-US" altLang="ko-KR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b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b="0"/>
                  <a:t> </a:t>
                </a:r>
                <a:r>
                  <a:rPr lang="ko-KR" altLang="en-US" b="0"/>
                  <a:t>둘 다 </a:t>
                </a:r>
                <a:r>
                  <a:rPr lang="ko-KR" altLang="en-US"/>
                  <a:t>∞ </a:t>
                </a:r>
                <a:r>
                  <a:rPr lang="en-US" altLang="ko-KR"/>
                  <a:t>:</a:t>
                </a:r>
                <a:r>
                  <a:rPr lang="ko-KR" altLang="en-US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b="0"/>
                  <a:t>0</a:t>
                </a:r>
              </a:p>
              <a:p>
                <a:endParaRPr lang="en-US" altLang="ko-KR" b="0"/>
              </a:p>
              <a:p>
                <a:r>
                  <a:rPr lang="en-US" altLang="ko-KR"/>
                  <a:t>0</a:t>
                </a:r>
                <a:r>
                  <a:rPr lang="ko-KR" altLang="en-US"/>
                  <a:t>을 </a:t>
                </a:r>
                <a:r>
                  <a:rPr lang="en-US" altLang="ko-KR"/>
                  <a:t>“</a:t>
                </a:r>
                <a:r>
                  <a:rPr lang="ko-KR" altLang="en-US"/>
                  <a:t>패</a:t>
                </a:r>
                <a:r>
                  <a:rPr lang="en-US" altLang="ko-KR"/>
                  <a:t>”, </a:t>
                </a:r>
                <a:r>
                  <a:rPr lang="ko-KR" altLang="en-US"/>
                  <a:t>∞를 </a:t>
                </a:r>
                <a:r>
                  <a:rPr lang="en-US" altLang="ko-KR"/>
                  <a:t>“</a:t>
                </a:r>
                <a:r>
                  <a:rPr lang="ko-KR" altLang="en-US"/>
                  <a:t>승</a:t>
                </a:r>
                <a:r>
                  <a:rPr lang="en-US" altLang="ko-KR"/>
                  <a:t>”</a:t>
                </a:r>
                <a:r>
                  <a:rPr lang="ko-KR" altLang="en-US"/>
                  <a:t>에 할당하면</a:t>
                </a:r>
                <a:r>
                  <a:rPr lang="en-US" altLang="ko-KR"/>
                  <a:t>, </a:t>
                </a:r>
                <a:r>
                  <a:rPr lang="ko-KR" altLang="en-US"/>
                  <a:t>이것은 앞서 본 게임 트리에서 필승</a:t>
                </a:r>
                <a:r>
                  <a:rPr lang="en-US" altLang="ko-KR"/>
                  <a:t>, </a:t>
                </a:r>
                <a:r>
                  <a:rPr lang="ko-KR" altLang="en-US"/>
                  <a:t>필패 평가 방법과 정확히 일치한다</a:t>
                </a:r>
                <a:r>
                  <a:rPr lang="en-US" altLang="ko-KR"/>
                  <a:t>.</a:t>
                </a:r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C23BBE9-BFA0-1CFA-8596-191E8C2D4F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816049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895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09780-20B2-BAF6-CBCA-3C5B75511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598E35D-2DC0-002E-622B-779FF55A5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868" y="4928559"/>
            <a:ext cx="10515600" cy="1685476"/>
          </a:xfrm>
        </p:spPr>
        <p:txBody>
          <a:bodyPr/>
          <a:lstStyle/>
          <a:p>
            <a:r>
              <a:rPr lang="ko-KR" altLang="en-US"/>
              <a:t>파동이 투과하면</a:t>
            </a:r>
            <a:r>
              <a:rPr lang="en-US" altLang="ko-KR"/>
              <a:t> -&gt; </a:t>
            </a:r>
            <a:r>
              <a:rPr lang="ko-KR" altLang="en-US"/>
              <a:t>필패</a:t>
            </a:r>
            <a:endParaRPr lang="en-US" altLang="ko-KR"/>
          </a:p>
          <a:p>
            <a:r>
              <a:rPr lang="ko-KR" altLang="en-US"/>
              <a:t>파동이 반사하면 </a:t>
            </a:r>
            <a:r>
              <a:rPr lang="en-US" altLang="ko-KR"/>
              <a:t>-&gt; </a:t>
            </a:r>
            <a:r>
              <a:rPr lang="ko-KR" altLang="en-US"/>
              <a:t>필승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5083AE00-8FA8-D8B5-4AAE-66929F4629AB}"/>
              </a:ext>
            </a:extLst>
          </p:cNvPr>
          <p:cNvSpPr/>
          <p:nvPr/>
        </p:nvSpPr>
        <p:spPr>
          <a:xfrm>
            <a:off x="822384" y="4211149"/>
            <a:ext cx="1253706" cy="435723"/>
          </a:xfrm>
          <a:custGeom>
            <a:avLst/>
            <a:gdLst>
              <a:gd name="connsiteX0" fmla="*/ 0 w 1253706"/>
              <a:gd name="connsiteY0" fmla="*/ 251583 h 435723"/>
              <a:gd name="connsiteX1" fmla="*/ 40257 w 1253706"/>
              <a:gd name="connsiteY1" fmla="*/ 4293 h 435723"/>
              <a:gd name="connsiteX2" fmla="*/ 235789 w 1253706"/>
              <a:gd name="connsiteY2" fmla="*/ 435613 h 435723"/>
              <a:gd name="connsiteX3" fmla="*/ 316302 w 1253706"/>
              <a:gd name="connsiteY3" fmla="*/ 50300 h 435723"/>
              <a:gd name="connsiteX4" fmla="*/ 477328 w 1253706"/>
              <a:gd name="connsiteY4" fmla="*/ 435613 h 435723"/>
              <a:gd name="connsiteX5" fmla="*/ 592347 w 1253706"/>
              <a:gd name="connsiteY5" fmla="*/ 44549 h 435723"/>
              <a:gd name="connsiteX6" fmla="*/ 759125 w 1253706"/>
              <a:gd name="connsiteY6" fmla="*/ 406859 h 435723"/>
              <a:gd name="connsiteX7" fmla="*/ 833887 w 1253706"/>
              <a:gd name="connsiteY7" fmla="*/ 44549 h 435723"/>
              <a:gd name="connsiteX8" fmla="*/ 1000664 w 1253706"/>
              <a:gd name="connsiteY8" fmla="*/ 435613 h 435723"/>
              <a:gd name="connsiteX9" fmla="*/ 1081177 w 1253706"/>
              <a:gd name="connsiteY9" fmla="*/ 10043 h 435723"/>
              <a:gd name="connsiteX10" fmla="*/ 1253706 w 1253706"/>
              <a:gd name="connsiteY10" fmla="*/ 401108 h 43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53706" h="435723">
                <a:moveTo>
                  <a:pt x="0" y="251583"/>
                </a:moveTo>
                <a:cubicBezTo>
                  <a:pt x="479" y="112602"/>
                  <a:pt x="959" y="-26379"/>
                  <a:pt x="40257" y="4293"/>
                </a:cubicBezTo>
                <a:cubicBezTo>
                  <a:pt x="79555" y="34965"/>
                  <a:pt x="189782" y="427945"/>
                  <a:pt x="235789" y="435613"/>
                </a:cubicBezTo>
                <a:cubicBezTo>
                  <a:pt x="281797" y="443281"/>
                  <a:pt x="276046" y="50300"/>
                  <a:pt x="316302" y="50300"/>
                </a:cubicBezTo>
                <a:cubicBezTo>
                  <a:pt x="356558" y="50300"/>
                  <a:pt x="431321" y="436571"/>
                  <a:pt x="477328" y="435613"/>
                </a:cubicBezTo>
                <a:cubicBezTo>
                  <a:pt x="523335" y="434655"/>
                  <a:pt x="545381" y="49341"/>
                  <a:pt x="592347" y="44549"/>
                </a:cubicBezTo>
                <a:cubicBezTo>
                  <a:pt x="639313" y="39757"/>
                  <a:pt x="718868" y="406859"/>
                  <a:pt x="759125" y="406859"/>
                </a:cubicBezTo>
                <a:cubicBezTo>
                  <a:pt x="799382" y="406859"/>
                  <a:pt x="793631" y="39757"/>
                  <a:pt x="833887" y="44549"/>
                </a:cubicBezTo>
                <a:cubicBezTo>
                  <a:pt x="874143" y="49341"/>
                  <a:pt x="959449" y="441364"/>
                  <a:pt x="1000664" y="435613"/>
                </a:cubicBezTo>
                <a:cubicBezTo>
                  <a:pt x="1041879" y="429862"/>
                  <a:pt x="1039003" y="15794"/>
                  <a:pt x="1081177" y="10043"/>
                </a:cubicBezTo>
                <a:cubicBezTo>
                  <a:pt x="1123351" y="4292"/>
                  <a:pt x="1188528" y="202700"/>
                  <a:pt x="1253706" y="40110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5CEDE10-D7C4-A41B-597A-06583AB359AE}"/>
              </a:ext>
            </a:extLst>
          </p:cNvPr>
          <p:cNvGrpSpPr/>
          <p:nvPr/>
        </p:nvGrpSpPr>
        <p:grpSpPr>
          <a:xfrm>
            <a:off x="961868" y="1105467"/>
            <a:ext cx="4358304" cy="2891066"/>
            <a:chOff x="833887" y="373530"/>
            <a:chExt cx="6337539" cy="4203985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404B777-FFC0-DB87-2A6C-FE972CBA04AA}"/>
                </a:ext>
              </a:extLst>
            </p:cNvPr>
            <p:cNvSpPr/>
            <p:nvPr/>
          </p:nvSpPr>
          <p:spPr>
            <a:xfrm>
              <a:off x="3706461" y="345930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575829AD-6EC6-6005-4B3E-4CA242CB82C0}"/>
                </a:ext>
              </a:extLst>
            </p:cNvPr>
            <p:cNvSpPr/>
            <p:nvPr/>
          </p:nvSpPr>
          <p:spPr>
            <a:xfrm>
              <a:off x="3033601" y="2366513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6C16445-1559-E01C-9621-A3C0FBF17BF4}"/>
                </a:ext>
              </a:extLst>
            </p:cNvPr>
            <p:cNvCxnSpPr>
              <a:cxnSpLocks/>
              <a:stCxn id="6" idx="0"/>
              <a:endCxn id="7" idx="4"/>
            </p:cNvCxnSpPr>
            <p:nvPr/>
          </p:nvCxnSpPr>
          <p:spPr>
            <a:xfrm flipH="1" flipV="1">
              <a:off x="3329797" y="2958904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14C057B-817A-C3AD-95DD-4E5DED018CBB}"/>
                    </a:ext>
                  </a:extLst>
                </p:cNvPr>
                <p:cNvSpPr txBox="1"/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14C057B-817A-C3AD-95DD-4E5DED018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blipFill>
                  <a:blip r:embed="rId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C436DBDA-966B-6CD2-6F4E-2C2000B48E4E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4002657" y="2958904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0484B9F9-A1E2-5BFC-AD8A-2B76BE165512}"/>
                </a:ext>
              </a:extLst>
            </p:cNvPr>
            <p:cNvSpPr/>
            <p:nvPr/>
          </p:nvSpPr>
          <p:spPr>
            <a:xfrm>
              <a:off x="4480270" y="2360969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EFD78BEA-E85D-9EA5-C82E-3C897889321F}"/>
                </a:ext>
              </a:extLst>
            </p:cNvPr>
            <p:cNvSpPr/>
            <p:nvPr/>
          </p:nvSpPr>
          <p:spPr>
            <a:xfrm>
              <a:off x="2320448" y="131132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5CD42706-B467-3E37-C70D-055D30FB24EB}"/>
                </a:ext>
              </a:extLst>
            </p:cNvPr>
            <p:cNvCxnSpPr>
              <a:cxnSpLocks/>
              <a:endCxn id="13" idx="4"/>
            </p:cNvCxnSpPr>
            <p:nvPr/>
          </p:nvCxnSpPr>
          <p:spPr>
            <a:xfrm flipH="1" flipV="1">
              <a:off x="2616644" y="1903716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7E0EE364-5F04-9E9A-3E01-44A86ED1F5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9504" y="1903716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6F57DAC7-24FF-B89F-A5F0-EC889B73259C}"/>
                </a:ext>
              </a:extLst>
            </p:cNvPr>
            <p:cNvSpPr/>
            <p:nvPr/>
          </p:nvSpPr>
          <p:spPr>
            <a:xfrm>
              <a:off x="3767117" y="1305781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18950AE2-F283-E733-A1AE-F3CDDD2729CB}"/>
                </a:ext>
              </a:extLst>
            </p:cNvPr>
            <p:cNvSpPr/>
            <p:nvPr/>
          </p:nvSpPr>
          <p:spPr>
            <a:xfrm>
              <a:off x="2377027" y="919412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CCC4EE-1254-9F1E-5A1E-E753CC01369B}"/>
                </a:ext>
              </a:extLst>
            </p:cNvPr>
            <p:cNvSpPr txBox="1"/>
            <p:nvPr/>
          </p:nvSpPr>
          <p:spPr>
            <a:xfrm>
              <a:off x="2436392" y="379075"/>
              <a:ext cx="319177" cy="53705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2400" b="0"/>
                <a:t>0</a:t>
              </a:r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FD412259-4E32-83C9-A769-688A12C99AF9}"/>
                </a:ext>
              </a:extLst>
            </p:cNvPr>
            <p:cNvSpPr/>
            <p:nvPr/>
          </p:nvSpPr>
          <p:spPr>
            <a:xfrm>
              <a:off x="3823696" y="913868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84F9721-104E-5767-A14D-8E10AE9FFDEC}"/>
                    </a:ext>
                  </a:extLst>
                </p:cNvPr>
                <p:cNvSpPr txBox="1"/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84F9721-104E-5767-A14D-8E10AE9FFD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blipFill>
                  <a:blip r:embed="rId3"/>
                  <a:stretch>
                    <a:fillRect l="-38889" r="-36111" b="-983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A6A02876-667D-D7D5-D1AD-034C6486FF5A}"/>
                </a:ext>
              </a:extLst>
            </p:cNvPr>
            <p:cNvSpPr/>
            <p:nvPr/>
          </p:nvSpPr>
          <p:spPr>
            <a:xfrm>
              <a:off x="2270174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9270266D-0040-8143-D1C7-9C9A36A4FF2A}"/>
                </a:ext>
              </a:extLst>
            </p:cNvPr>
            <p:cNvSpPr/>
            <p:nvPr/>
          </p:nvSpPr>
          <p:spPr>
            <a:xfrm>
              <a:off x="833887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8AC7C1A2-9042-12C9-FF0E-2A776BF81BCB}"/>
                </a:ext>
              </a:extLst>
            </p:cNvPr>
            <p:cNvSpPr/>
            <p:nvPr/>
          </p:nvSpPr>
          <p:spPr>
            <a:xfrm>
              <a:off x="5142748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EB6AFEC-DBDA-7CFA-F2E9-25BB74E03336}"/>
                </a:ext>
              </a:extLst>
            </p:cNvPr>
            <p:cNvSpPr/>
            <p:nvPr/>
          </p:nvSpPr>
          <p:spPr>
            <a:xfrm>
              <a:off x="6579035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FBE62872-86FD-A8F1-9EE6-73FABE16FEF2}"/>
                </a:ext>
              </a:extLst>
            </p:cNvPr>
            <p:cNvCxnSpPr>
              <a:cxnSpLocks/>
              <a:stCxn id="25" idx="6"/>
              <a:endCxn id="24" idx="2"/>
            </p:cNvCxnSpPr>
            <p:nvPr/>
          </p:nvCxnSpPr>
          <p:spPr>
            <a:xfrm>
              <a:off x="1426278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EF52372B-71C8-94C0-0B2E-6622E6190FEF}"/>
                </a:ext>
              </a:extLst>
            </p:cNvPr>
            <p:cNvCxnSpPr>
              <a:cxnSpLocks/>
            </p:cNvCxnSpPr>
            <p:nvPr/>
          </p:nvCxnSpPr>
          <p:spPr>
            <a:xfrm>
              <a:off x="2862565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1E12D9AD-0660-FBBC-7C7B-8CF3A32FC539}"/>
                </a:ext>
              </a:extLst>
            </p:cNvPr>
            <p:cNvCxnSpPr>
              <a:cxnSpLocks/>
            </p:cNvCxnSpPr>
            <p:nvPr/>
          </p:nvCxnSpPr>
          <p:spPr>
            <a:xfrm>
              <a:off x="4298852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A6DF463D-2CE2-FF34-B8B4-F3BE9103FBF5}"/>
                </a:ext>
              </a:extLst>
            </p:cNvPr>
            <p:cNvCxnSpPr>
              <a:cxnSpLocks/>
            </p:cNvCxnSpPr>
            <p:nvPr/>
          </p:nvCxnSpPr>
          <p:spPr>
            <a:xfrm>
              <a:off x="5735139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4B42275B-DA3B-9F1B-CE55-FE01AC440366}"/>
                </a:ext>
              </a:extLst>
            </p:cNvPr>
            <p:cNvSpPr/>
            <p:nvPr/>
          </p:nvSpPr>
          <p:spPr>
            <a:xfrm>
              <a:off x="4521565" y="1772186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86EA431-D7C4-F78B-7D80-55B03501FB7D}"/>
                    </a:ext>
                  </a:extLst>
                </p:cNvPr>
                <p:cNvSpPr txBox="1"/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86EA431-D7C4-F78B-7D80-55B03501FB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blipFill>
                  <a:blip r:embed="rId4"/>
                  <a:stretch>
                    <a:fillRect l="-38889" r="-36111" b="-1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016D4DBC-378B-5769-E59A-B57EFD418CE0}"/>
                </a:ext>
              </a:extLst>
            </p:cNvPr>
            <p:cNvCxnSpPr/>
            <p:nvPr/>
          </p:nvCxnSpPr>
          <p:spPr>
            <a:xfrm>
              <a:off x="833887" y="4479985"/>
              <a:ext cx="131696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86321B4-5188-2458-7C39-B4BF4FC86317}"/>
                    </a:ext>
                  </a:extLst>
                </p:cNvPr>
                <p:cNvSpPr txBox="1"/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86321B4-5188-2458-7C39-B4BF4FC86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3FA2E9D-7333-42C3-552E-901812BED745}"/>
              </a:ext>
            </a:extLst>
          </p:cNvPr>
          <p:cNvGrpSpPr/>
          <p:nvPr/>
        </p:nvGrpSpPr>
        <p:grpSpPr>
          <a:xfrm>
            <a:off x="6436766" y="1105467"/>
            <a:ext cx="4358304" cy="2891066"/>
            <a:chOff x="833887" y="373530"/>
            <a:chExt cx="6337539" cy="4203985"/>
          </a:xfrm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73F92DE8-D4B0-E0EC-B2FF-D67998AA8C26}"/>
                </a:ext>
              </a:extLst>
            </p:cNvPr>
            <p:cNvSpPr/>
            <p:nvPr/>
          </p:nvSpPr>
          <p:spPr>
            <a:xfrm>
              <a:off x="3706461" y="345930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91CDFBA5-D94E-5513-D268-19DCFE4D233F}"/>
                </a:ext>
              </a:extLst>
            </p:cNvPr>
            <p:cNvSpPr/>
            <p:nvPr/>
          </p:nvSpPr>
          <p:spPr>
            <a:xfrm>
              <a:off x="3033601" y="2366513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BA1F5FE3-D88F-AAFC-C022-C5BB8060CB6E}"/>
                </a:ext>
              </a:extLst>
            </p:cNvPr>
            <p:cNvCxnSpPr>
              <a:cxnSpLocks/>
              <a:stCxn id="46" idx="0"/>
              <a:endCxn id="47" idx="4"/>
            </p:cNvCxnSpPr>
            <p:nvPr/>
          </p:nvCxnSpPr>
          <p:spPr>
            <a:xfrm flipH="1" flipV="1">
              <a:off x="3329797" y="2958904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7561455-A784-E09F-1C46-489C894C4E9D}"/>
                    </a:ext>
                  </a:extLst>
                </p:cNvPr>
                <p:cNvSpPr txBox="1"/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7561455-A784-E09F-1C46-489C894C4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blipFill>
                  <a:blip r:embed="rId6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21C6AB21-DFDB-1EFF-99C0-0C34AF32B498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V="1">
              <a:off x="4002657" y="2958904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B836F2D-7761-C851-FC6E-A975D39AE9B5}"/>
                </a:ext>
              </a:extLst>
            </p:cNvPr>
            <p:cNvSpPr/>
            <p:nvPr/>
          </p:nvSpPr>
          <p:spPr>
            <a:xfrm>
              <a:off x="4480270" y="2360969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63E47F8-B507-2B5D-B15C-454214C1DFAE}"/>
                </a:ext>
              </a:extLst>
            </p:cNvPr>
            <p:cNvSpPr/>
            <p:nvPr/>
          </p:nvSpPr>
          <p:spPr>
            <a:xfrm>
              <a:off x="2320448" y="131132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D0A3BE79-15B6-88A8-5BEA-AC78DAF11BC4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H="1" flipV="1">
              <a:off x="2616644" y="1903716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0372BB20-3066-10AA-6408-84013D2907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9504" y="1903716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6A2D0FDC-A795-8BC5-D08E-0C5CA1649D06}"/>
                </a:ext>
              </a:extLst>
            </p:cNvPr>
            <p:cNvSpPr/>
            <p:nvPr/>
          </p:nvSpPr>
          <p:spPr>
            <a:xfrm>
              <a:off x="3767117" y="1305781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09C9792A-C68E-232E-2D00-84BBEC756FE8}"/>
                </a:ext>
              </a:extLst>
            </p:cNvPr>
            <p:cNvSpPr/>
            <p:nvPr/>
          </p:nvSpPr>
          <p:spPr>
            <a:xfrm>
              <a:off x="2377027" y="919412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7B4F107-E2FE-1AF0-E3F2-ADB0E1E9B672}"/>
                </a:ext>
              </a:extLst>
            </p:cNvPr>
            <p:cNvSpPr txBox="1"/>
            <p:nvPr/>
          </p:nvSpPr>
          <p:spPr>
            <a:xfrm>
              <a:off x="2436392" y="379075"/>
              <a:ext cx="319177" cy="53705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2400" b="0"/>
                <a:t>0</a:t>
              </a:r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423E2B21-9E05-C344-87A6-1D08A19A35B2}"/>
                </a:ext>
              </a:extLst>
            </p:cNvPr>
            <p:cNvSpPr/>
            <p:nvPr/>
          </p:nvSpPr>
          <p:spPr>
            <a:xfrm>
              <a:off x="3823696" y="913868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39A792B9-7803-9959-0D95-35CDBDB8965E}"/>
                    </a:ext>
                  </a:extLst>
                </p:cNvPr>
                <p:cNvSpPr txBox="1"/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39A792B9-7803-9959-0D95-35CDBDB896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blipFill>
                  <a:blip r:embed="rId7"/>
                  <a:stretch>
                    <a:fillRect l="-38889" r="-36111" b="-983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0F8FDF1B-3A8E-8EC0-2998-F4C1AED36132}"/>
                </a:ext>
              </a:extLst>
            </p:cNvPr>
            <p:cNvSpPr/>
            <p:nvPr/>
          </p:nvSpPr>
          <p:spPr>
            <a:xfrm>
              <a:off x="2270174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5DF909B8-3149-BBE9-8794-DD8F3030C0BD}"/>
                </a:ext>
              </a:extLst>
            </p:cNvPr>
            <p:cNvSpPr/>
            <p:nvPr/>
          </p:nvSpPr>
          <p:spPr>
            <a:xfrm>
              <a:off x="833887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D0A9537B-4A93-61C1-F19D-504552150249}"/>
                </a:ext>
              </a:extLst>
            </p:cNvPr>
            <p:cNvSpPr/>
            <p:nvPr/>
          </p:nvSpPr>
          <p:spPr>
            <a:xfrm>
              <a:off x="5142748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8F350A-578D-DAE9-6A04-98B30E2210C4}"/>
                </a:ext>
              </a:extLst>
            </p:cNvPr>
            <p:cNvSpPr/>
            <p:nvPr/>
          </p:nvSpPr>
          <p:spPr>
            <a:xfrm>
              <a:off x="6579035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0B373FC5-8002-ED66-5496-7377D4BA903A}"/>
                </a:ext>
              </a:extLst>
            </p:cNvPr>
            <p:cNvCxnSpPr>
              <a:cxnSpLocks/>
              <a:stCxn id="61" idx="6"/>
              <a:endCxn id="60" idx="2"/>
            </p:cNvCxnSpPr>
            <p:nvPr/>
          </p:nvCxnSpPr>
          <p:spPr>
            <a:xfrm>
              <a:off x="1426278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64C49A56-8F6E-7234-155A-C3AF9620BD4C}"/>
                </a:ext>
              </a:extLst>
            </p:cNvPr>
            <p:cNvCxnSpPr>
              <a:cxnSpLocks/>
            </p:cNvCxnSpPr>
            <p:nvPr/>
          </p:nvCxnSpPr>
          <p:spPr>
            <a:xfrm>
              <a:off x="2862565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FCB170C0-24ED-D333-1A9A-E7BB448623E7}"/>
                </a:ext>
              </a:extLst>
            </p:cNvPr>
            <p:cNvCxnSpPr>
              <a:cxnSpLocks/>
            </p:cNvCxnSpPr>
            <p:nvPr/>
          </p:nvCxnSpPr>
          <p:spPr>
            <a:xfrm>
              <a:off x="4298852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215AAB41-37D1-057C-2B1A-F7DA7C3F8F16}"/>
                </a:ext>
              </a:extLst>
            </p:cNvPr>
            <p:cNvCxnSpPr>
              <a:cxnSpLocks/>
            </p:cNvCxnSpPr>
            <p:nvPr/>
          </p:nvCxnSpPr>
          <p:spPr>
            <a:xfrm>
              <a:off x="5735139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450D2F09-9C1C-1405-296B-7BD2298F356B}"/>
                </a:ext>
              </a:extLst>
            </p:cNvPr>
            <p:cNvSpPr/>
            <p:nvPr/>
          </p:nvSpPr>
          <p:spPr>
            <a:xfrm>
              <a:off x="4521565" y="1772186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C142D869-E3B8-D028-EA64-D36F9957BA03}"/>
                    </a:ext>
                  </a:extLst>
                </p:cNvPr>
                <p:cNvSpPr txBox="1"/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C142D869-E3B8-D028-EA64-D36F9957BA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blipFill>
                  <a:blip r:embed="rId8"/>
                  <a:stretch>
                    <a:fillRect l="-36111" r="-38889" b="-1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037CD03B-D83A-230E-C65B-5016D1F5DCE2}"/>
                </a:ext>
              </a:extLst>
            </p:cNvPr>
            <p:cNvCxnSpPr/>
            <p:nvPr/>
          </p:nvCxnSpPr>
          <p:spPr>
            <a:xfrm>
              <a:off x="833887" y="4479985"/>
              <a:ext cx="131696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ABB87CC0-01CB-8EA6-5453-5014F21EC774}"/>
                    </a:ext>
                  </a:extLst>
                </p:cNvPr>
                <p:cNvSpPr txBox="1"/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ABB87CC0-01CB-8EA6-5453-5014F21EC7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blipFill>
                  <a:blip r:embed="rId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628048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8EAACE-7433-F132-DD8B-42B2FA593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파동 패킷을 이용한 구현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B78B2C1-0617-15F1-28BE-629607845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/>
                  <a:t>지금까지의 내용을 구현하려면</a:t>
                </a:r>
                <a:r>
                  <a:rPr lang="en-US" altLang="ko-KR"/>
                  <a:t>, </a:t>
                </a:r>
                <a:r>
                  <a:rPr lang="ko-KR" altLang="en-US"/>
                  <a:t>무한한 상태 공간에서 무한한 크기의 파동을 만들어야 하는데</a:t>
                </a:r>
                <a:r>
                  <a:rPr lang="en-US" altLang="ko-KR"/>
                  <a:t>, </a:t>
                </a:r>
                <a:r>
                  <a:rPr lang="ko-KR" altLang="en-US"/>
                  <a:t>이는 현실적으로 불가능하다</a:t>
                </a:r>
                <a:r>
                  <a:rPr lang="en-US" altLang="ko-KR"/>
                  <a:t>. </a:t>
                </a:r>
                <a:r>
                  <a:rPr lang="ko-KR" altLang="en-US"/>
                  <a:t>그래서 유한한 크기의 파동 패킷</a:t>
                </a:r>
                <a:r>
                  <a:rPr lang="en-US" altLang="ko-KR"/>
                  <a:t>(wave packet)</a:t>
                </a:r>
                <a:r>
                  <a:rPr lang="ko-KR" altLang="en-US"/>
                  <a:t>을 써야 한다</a:t>
                </a:r>
                <a:r>
                  <a:rPr lang="en-US" altLang="ko-KR"/>
                  <a:t>.</a:t>
                </a:r>
              </a:p>
              <a:p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rad>
                                </m:den>
                              </m:f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 b="0"/>
                  <a:t>파동 패킷을 쓰기 때문에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m:rPr>
                        <m:lit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ko-KR" altLang="en-US" b="0"/>
                  <a:t>인 성분으로만 이루어진 무한한 파동이 아니라 여러 고윳값이 섞인 상태가 된다</a:t>
                </a:r>
                <a:r>
                  <a:rPr lang="en-US" altLang="ko-KR" b="0"/>
                  <a:t>.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B78B2C1-0617-15F1-28BE-629607845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9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772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E697A-B9E1-E1C9-DC09-5A9A1A404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7072"/>
            <a:ext cx="10515600" cy="5739891"/>
          </a:xfrm>
        </p:spPr>
        <p:txBody>
          <a:bodyPr/>
          <a:lstStyle/>
          <a:p>
            <a:r>
              <a:rPr lang="ko-KR" altLang="en-US"/>
              <a:t>파동 패킷 사용 시 문제점</a:t>
            </a:r>
            <a:r>
              <a:rPr lang="en-US" altLang="ko-KR"/>
              <a:t>.</a:t>
            </a:r>
            <a:r>
              <a:rPr lang="ko-KR" altLang="en-US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표 4">
                <a:extLst>
                  <a:ext uri="{FF2B5EF4-FFF2-40B4-BE49-F238E27FC236}">
                    <a16:creationId xmlns:a16="http://schemas.microsoft.com/office/drawing/2014/main" id="{8FE602D7-CDC5-2EFC-928C-57D623A0BB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9691746"/>
                  </p:ext>
                </p:extLst>
              </p:nvPr>
            </p:nvGraphicFramePr>
            <p:xfrm>
              <a:off x="2126974" y="1566953"/>
              <a:ext cx="7837004" cy="1771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18502">
                      <a:extLst>
                        <a:ext uri="{9D8B030D-6E8A-4147-A177-3AD203B41FA5}">
                          <a16:colId xmlns:a16="http://schemas.microsoft.com/office/drawing/2014/main" val="1634965758"/>
                        </a:ext>
                      </a:extLst>
                    </a:gridCol>
                    <a:gridCol w="3918502">
                      <a:extLst>
                        <a:ext uri="{9D8B030D-6E8A-4147-A177-3AD203B41FA5}">
                          <a16:colId xmlns:a16="http://schemas.microsoft.com/office/drawing/2014/main" val="222774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완전한 파동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파동 패킷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8430031"/>
                      </a:ext>
                    </a:extLst>
                  </a:tr>
                  <a:tr h="378401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</m:oMath>
                          </a14:m>
                          <a:r>
                            <a:rPr lang="en-US" altLang="ko-KR"/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2)</m:t>
                              </m:r>
                            </m:oMath>
                          </a14:m>
                          <a:r>
                            <a:rPr lang="ko-KR" altLang="en-US"/>
                            <a:t> 성분만 사용 가능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ko-KR" altLang="en-US" b="0" i="1" smtClean="0">
                                  <a:latin typeface="Cambria Math" panose="02040503050406030204" pitchFamily="18" charset="0"/>
                                </a:rPr>
                                <m:t>인</m:t>
                              </m:r>
                            </m:oMath>
                          </a14:m>
                          <a:r>
                            <a:rPr lang="ko-KR" altLang="en-US"/>
                            <a:t> 고윳값이 섞여 있음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92396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=0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∞</m:t>
                                </m:r>
                              </m:oMath>
                            </m:oMathPara>
                          </a14:m>
                          <a:endParaRPr lang="en-US" altLang="ko-KR" b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ko-KR" altLang="en-US" b="0"/>
                            <a:t>는 모든 실수값 가질 수 잇음</a:t>
                          </a:r>
                          <a:endParaRPr lang="en-US" altLang="ko-KR" b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30746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US" altLang="ko-KR" b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US" altLang="ko-KR" b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415844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표 4">
                <a:extLst>
                  <a:ext uri="{FF2B5EF4-FFF2-40B4-BE49-F238E27FC236}">
                    <a16:creationId xmlns:a16="http://schemas.microsoft.com/office/drawing/2014/main" id="{8FE602D7-CDC5-2EFC-928C-57D623A0BB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9691746"/>
                  </p:ext>
                </p:extLst>
              </p:nvPr>
            </p:nvGraphicFramePr>
            <p:xfrm>
              <a:off x="2126974" y="1566953"/>
              <a:ext cx="7837004" cy="1771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18502">
                      <a:extLst>
                        <a:ext uri="{9D8B030D-6E8A-4147-A177-3AD203B41FA5}">
                          <a16:colId xmlns:a16="http://schemas.microsoft.com/office/drawing/2014/main" val="1634965758"/>
                        </a:ext>
                      </a:extLst>
                    </a:gridCol>
                    <a:gridCol w="3918502">
                      <a:extLst>
                        <a:ext uri="{9D8B030D-6E8A-4147-A177-3AD203B41FA5}">
                          <a16:colId xmlns:a16="http://schemas.microsoft.com/office/drawing/2014/main" val="222774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완전한 파동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파동 패킷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8430031"/>
                      </a:ext>
                    </a:extLst>
                  </a:tr>
                  <a:tr h="3784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55" t="-106452" r="-100466" b="-2741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311" t="-106452" r="-622" b="-2741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92396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55" t="-209836" r="-100466" b="-1786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311" t="-209836" r="-622" b="-1786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93074690"/>
                      </a:ext>
                    </a:extLst>
                  </a:tr>
                  <a:tr h="6517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55" t="-176636" r="-100466" b="-1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311" t="-176636" r="-622" b="-18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4158440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72" name="그룹 71">
            <a:extLst>
              <a:ext uri="{FF2B5EF4-FFF2-40B4-BE49-F238E27FC236}">
                <a16:creationId xmlns:a16="http://schemas.microsoft.com/office/drawing/2014/main" id="{F9834A34-93DD-8C45-2B9B-DDF145B5F8DE}"/>
              </a:ext>
            </a:extLst>
          </p:cNvPr>
          <p:cNvGrpSpPr/>
          <p:nvPr/>
        </p:nvGrpSpPr>
        <p:grpSpPr>
          <a:xfrm>
            <a:off x="6731422" y="3891024"/>
            <a:ext cx="2359731" cy="2580746"/>
            <a:chOff x="6731422" y="3891024"/>
            <a:chExt cx="2359731" cy="2580746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D1FD3845-288B-85C4-E099-FCC2BD001773}"/>
                </a:ext>
              </a:extLst>
            </p:cNvPr>
            <p:cNvSpPr/>
            <p:nvPr/>
          </p:nvSpPr>
          <p:spPr>
            <a:xfrm>
              <a:off x="7644707" y="594101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2126380E-EBBC-9E1D-F100-0F3FE75764E8}"/>
                </a:ext>
              </a:extLst>
            </p:cNvPr>
            <p:cNvSpPr/>
            <p:nvPr/>
          </p:nvSpPr>
          <p:spPr>
            <a:xfrm>
              <a:off x="7201339" y="5220942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51A7E0F-046D-97C4-DBCA-F4CEBF16E595}"/>
                </a:ext>
              </a:extLst>
            </p:cNvPr>
            <p:cNvCxnSpPr>
              <a:cxnSpLocks/>
              <a:stCxn id="6" idx="0"/>
              <a:endCxn id="7" idx="4"/>
            </p:cNvCxnSpPr>
            <p:nvPr/>
          </p:nvCxnSpPr>
          <p:spPr>
            <a:xfrm flipH="1" flipV="1">
              <a:off x="7396512" y="5611286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5F8B2D43-7FB4-2974-6C36-FF6201833334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7839879" y="5611286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4746EF2-5066-C43E-FB6C-5BF208612A89}"/>
                </a:ext>
              </a:extLst>
            </p:cNvPr>
            <p:cNvSpPr/>
            <p:nvPr/>
          </p:nvSpPr>
          <p:spPr>
            <a:xfrm>
              <a:off x="8154592" y="5217289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E9ADB820-63D2-C85D-ADC0-45B86C48AF5B}"/>
                </a:ext>
              </a:extLst>
            </p:cNvPr>
            <p:cNvSpPr/>
            <p:nvPr/>
          </p:nvSpPr>
          <p:spPr>
            <a:xfrm>
              <a:off x="6731422" y="4525648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DD36E591-D8B3-CFF3-03DD-B129591B7230}"/>
                </a:ext>
              </a:extLst>
            </p:cNvPr>
            <p:cNvCxnSpPr>
              <a:cxnSpLocks/>
              <a:endCxn id="13" idx="4"/>
            </p:cNvCxnSpPr>
            <p:nvPr/>
          </p:nvCxnSpPr>
          <p:spPr>
            <a:xfrm flipH="1" flipV="1">
              <a:off x="6926594" y="4915992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2584CC56-6F88-D56E-941D-D55A2D5EFF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961" y="4915992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FA677D4D-8F69-EAD5-96F0-8975E37B6B1E}"/>
                </a:ext>
              </a:extLst>
            </p:cNvPr>
            <p:cNvSpPr/>
            <p:nvPr/>
          </p:nvSpPr>
          <p:spPr>
            <a:xfrm>
              <a:off x="7684675" y="452199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A453BA63-3D12-60B5-341F-9EE7D5007274}"/>
                </a:ext>
              </a:extLst>
            </p:cNvPr>
            <p:cNvSpPr/>
            <p:nvPr/>
          </p:nvSpPr>
          <p:spPr>
            <a:xfrm>
              <a:off x="6768704" y="4267405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CAAD8F05-DA83-3BB4-9EAD-A98EDE6F5015}"/>
                </a:ext>
              </a:extLst>
            </p:cNvPr>
            <p:cNvSpPr/>
            <p:nvPr/>
          </p:nvSpPr>
          <p:spPr>
            <a:xfrm>
              <a:off x="7721956" y="4263752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3AECB0BE-A890-986E-4932-40EA82F384A0}"/>
                </a:ext>
              </a:extLst>
            </p:cNvPr>
            <p:cNvSpPr/>
            <p:nvPr/>
          </p:nvSpPr>
          <p:spPr>
            <a:xfrm>
              <a:off x="8181802" y="4829323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A34920D-9025-2DF8-9AE5-582ED98BE929}"/>
                    </a:ext>
                  </a:extLst>
                </p:cNvPr>
                <p:cNvSpPr txBox="1"/>
                <p:nvPr/>
              </p:nvSpPr>
              <p:spPr>
                <a:xfrm>
                  <a:off x="8334621" y="4475865"/>
                  <a:ext cx="2103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A34920D-9025-2DF8-9AE5-582ED98BE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4621" y="4475865"/>
                  <a:ext cx="210315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7143" r="-20000" b="-1087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8B91424-C226-7B42-232E-8FFB1849D5A3}"/>
                    </a:ext>
                  </a:extLst>
                </p:cNvPr>
                <p:cNvSpPr txBox="1"/>
                <p:nvPr/>
              </p:nvSpPr>
              <p:spPr>
                <a:xfrm>
                  <a:off x="7774688" y="3891024"/>
                  <a:ext cx="2103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8B91424-C226-7B42-232E-8FFB1849D5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4688" y="3891024"/>
                  <a:ext cx="21031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7143" r="-20000" b="-1087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06376B2-1CAE-F3EC-EA53-BAFCA0C5F6A8}"/>
                    </a:ext>
                  </a:extLst>
                </p:cNvPr>
                <p:cNvSpPr txBox="1"/>
                <p:nvPr/>
              </p:nvSpPr>
              <p:spPr>
                <a:xfrm>
                  <a:off x="6821436" y="3897923"/>
                  <a:ext cx="2103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06376B2-1CAE-F3EC-EA53-BAFCA0C5F6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36" y="3897923"/>
                  <a:ext cx="21031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7143" r="-20000" b="-1087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5E95588-DF91-D508-7AC7-BD5692DCC3FA}"/>
                    </a:ext>
                  </a:extLst>
                </p:cNvPr>
                <p:cNvSpPr txBox="1"/>
                <p:nvPr/>
              </p:nvSpPr>
              <p:spPr>
                <a:xfrm>
                  <a:off x="6882335" y="5267686"/>
                  <a:ext cx="260052" cy="4037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den>
                        </m:f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5E95588-DF91-D508-7AC7-BD5692DCC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2335" y="5267686"/>
                  <a:ext cx="260052" cy="403789"/>
                </a:xfrm>
                <a:prstGeom prst="rect">
                  <a:avLst/>
                </a:prstGeom>
                <a:blipFill>
                  <a:blip r:embed="rId6"/>
                  <a:stretch>
                    <a:fillRect b="-3939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018E383-133F-F832-1262-58A498A46EC2}"/>
                    </a:ext>
                  </a:extLst>
                </p:cNvPr>
                <p:cNvSpPr txBox="1"/>
                <p:nvPr/>
              </p:nvSpPr>
              <p:spPr>
                <a:xfrm>
                  <a:off x="8068309" y="5823579"/>
                  <a:ext cx="1022844" cy="64819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den>
                        </m:f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018E383-133F-F832-1262-58A498A46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8309" y="5823579"/>
                  <a:ext cx="1022844" cy="64819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A532266-D721-93A2-B880-824343FA32D1}"/>
              </a:ext>
            </a:extLst>
          </p:cNvPr>
          <p:cNvGrpSpPr/>
          <p:nvPr/>
        </p:nvGrpSpPr>
        <p:grpSpPr>
          <a:xfrm>
            <a:off x="3261238" y="3891024"/>
            <a:ext cx="1866238" cy="2440335"/>
            <a:chOff x="6731422" y="3891024"/>
            <a:chExt cx="1866238" cy="2440335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DDD6278E-B315-C523-701E-6B5CCDBCF856}"/>
                </a:ext>
              </a:extLst>
            </p:cNvPr>
            <p:cNvSpPr/>
            <p:nvPr/>
          </p:nvSpPr>
          <p:spPr>
            <a:xfrm>
              <a:off x="7644707" y="594101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A1017295-3615-B90B-CA34-269850137AB3}"/>
                </a:ext>
              </a:extLst>
            </p:cNvPr>
            <p:cNvSpPr/>
            <p:nvPr/>
          </p:nvSpPr>
          <p:spPr>
            <a:xfrm>
              <a:off x="7201339" y="5220942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DFEC8BA1-80E7-AB23-02F2-8FA191537196}"/>
                </a:ext>
              </a:extLst>
            </p:cNvPr>
            <p:cNvCxnSpPr>
              <a:cxnSpLocks/>
              <a:stCxn id="74" idx="0"/>
              <a:endCxn id="75" idx="4"/>
            </p:cNvCxnSpPr>
            <p:nvPr/>
          </p:nvCxnSpPr>
          <p:spPr>
            <a:xfrm flipH="1" flipV="1">
              <a:off x="7396512" y="5611286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6F85164B-1642-D618-49D1-184B8FFD0CAD}"/>
                </a:ext>
              </a:extLst>
            </p:cNvPr>
            <p:cNvCxnSpPr>
              <a:cxnSpLocks/>
              <a:stCxn id="74" idx="0"/>
            </p:cNvCxnSpPr>
            <p:nvPr/>
          </p:nvCxnSpPr>
          <p:spPr>
            <a:xfrm flipV="1">
              <a:off x="7839879" y="5611286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13377ABF-73D8-2199-C3E4-B3C7C6558D89}"/>
                </a:ext>
              </a:extLst>
            </p:cNvPr>
            <p:cNvSpPr/>
            <p:nvPr/>
          </p:nvSpPr>
          <p:spPr>
            <a:xfrm>
              <a:off x="8154592" y="5217289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05CD198B-B11D-8B53-5A7B-614D1FC3C055}"/>
                </a:ext>
              </a:extLst>
            </p:cNvPr>
            <p:cNvSpPr/>
            <p:nvPr/>
          </p:nvSpPr>
          <p:spPr>
            <a:xfrm>
              <a:off x="6731422" y="4525648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42548922-0875-A666-E70E-51AAFB7D0E88}"/>
                </a:ext>
              </a:extLst>
            </p:cNvPr>
            <p:cNvCxnSpPr>
              <a:cxnSpLocks/>
              <a:endCxn id="79" idx="4"/>
            </p:cNvCxnSpPr>
            <p:nvPr/>
          </p:nvCxnSpPr>
          <p:spPr>
            <a:xfrm flipH="1" flipV="1">
              <a:off x="6926594" y="4915992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9ECEA2D7-4074-8CDA-886B-8C5882227A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961" y="4915992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7959A0FF-438C-13E6-8B48-585638F4BF95}"/>
                </a:ext>
              </a:extLst>
            </p:cNvPr>
            <p:cNvSpPr/>
            <p:nvPr/>
          </p:nvSpPr>
          <p:spPr>
            <a:xfrm>
              <a:off x="7684675" y="452199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자유형: 도형 82">
              <a:extLst>
                <a:ext uri="{FF2B5EF4-FFF2-40B4-BE49-F238E27FC236}">
                  <a16:creationId xmlns:a16="http://schemas.microsoft.com/office/drawing/2014/main" id="{CF1A6B9E-B45A-0120-8DF4-7955DF944519}"/>
                </a:ext>
              </a:extLst>
            </p:cNvPr>
            <p:cNvSpPr/>
            <p:nvPr/>
          </p:nvSpPr>
          <p:spPr>
            <a:xfrm>
              <a:off x="6768704" y="4267405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자유형: 도형 83">
              <a:extLst>
                <a:ext uri="{FF2B5EF4-FFF2-40B4-BE49-F238E27FC236}">
                  <a16:creationId xmlns:a16="http://schemas.microsoft.com/office/drawing/2014/main" id="{F413C561-3C86-740B-28E3-08B4EC398C7B}"/>
                </a:ext>
              </a:extLst>
            </p:cNvPr>
            <p:cNvSpPr/>
            <p:nvPr/>
          </p:nvSpPr>
          <p:spPr>
            <a:xfrm>
              <a:off x="7721956" y="4263752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86072854-5C94-F3CA-2150-8A73621F4088}"/>
                </a:ext>
              </a:extLst>
            </p:cNvPr>
            <p:cNvSpPr/>
            <p:nvPr/>
          </p:nvSpPr>
          <p:spPr>
            <a:xfrm>
              <a:off x="8181802" y="4829323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C60869E-D0E4-B594-A398-3E384A1CCFF0}"/>
                    </a:ext>
                  </a:extLst>
                </p:cNvPr>
                <p:cNvSpPr txBox="1"/>
                <p:nvPr/>
              </p:nvSpPr>
              <p:spPr>
                <a:xfrm>
                  <a:off x="8334621" y="4475865"/>
                  <a:ext cx="210315" cy="2839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C60869E-D0E4-B594-A398-3E384A1CCF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4621" y="4475865"/>
                  <a:ext cx="210315" cy="283924"/>
                </a:xfrm>
                <a:prstGeom prst="rect">
                  <a:avLst/>
                </a:prstGeom>
                <a:blipFill>
                  <a:blip r:embed="rId8"/>
                  <a:stretch>
                    <a:fillRect l="-20588" r="-20588" b="-851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7FB90ACD-1973-B0C2-2D3B-61EE5CBE33A3}"/>
                    </a:ext>
                  </a:extLst>
                </p:cNvPr>
                <p:cNvSpPr txBox="1"/>
                <p:nvPr/>
              </p:nvSpPr>
              <p:spPr>
                <a:xfrm>
                  <a:off x="7774688" y="3891024"/>
                  <a:ext cx="210315" cy="2839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7FB90ACD-1973-B0C2-2D3B-61EE5CBE33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4688" y="3891024"/>
                  <a:ext cx="210315" cy="283924"/>
                </a:xfrm>
                <a:prstGeom prst="rect">
                  <a:avLst/>
                </a:prstGeom>
                <a:blipFill>
                  <a:blip r:embed="rId9"/>
                  <a:stretch>
                    <a:fillRect l="-17143" r="-20000" b="-851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D0CB6278-FAA7-CB4E-43E0-11FF54B8E8D9}"/>
                    </a:ext>
                  </a:extLst>
                </p:cNvPr>
                <p:cNvSpPr txBox="1"/>
                <p:nvPr/>
              </p:nvSpPr>
              <p:spPr>
                <a:xfrm>
                  <a:off x="6821436" y="3897923"/>
                  <a:ext cx="210315" cy="2839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D0CB6278-FAA7-CB4E-43E0-11FF54B8E8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36" y="3897923"/>
                  <a:ext cx="210315" cy="283924"/>
                </a:xfrm>
                <a:prstGeom prst="rect">
                  <a:avLst/>
                </a:prstGeom>
                <a:blipFill>
                  <a:blip r:embed="rId10"/>
                  <a:stretch>
                    <a:fillRect l="-20588" r="-20588" b="-851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CBAD709-F96F-872C-5E46-065EA11C4922}"/>
                    </a:ext>
                  </a:extLst>
                </p:cNvPr>
                <p:cNvSpPr txBox="1"/>
                <p:nvPr/>
              </p:nvSpPr>
              <p:spPr>
                <a:xfrm>
                  <a:off x="6805255" y="5255720"/>
                  <a:ext cx="4619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CBAD709-F96F-872C-5E46-065EA11C4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255" y="5255720"/>
                  <a:ext cx="46198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256C906A-0E3D-E5D3-177D-55AD1D1B656F}"/>
                    </a:ext>
                  </a:extLst>
                </p:cNvPr>
                <p:cNvSpPr txBox="1"/>
                <p:nvPr/>
              </p:nvSpPr>
              <p:spPr>
                <a:xfrm>
                  <a:off x="8047898" y="5907630"/>
                  <a:ext cx="4619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256C906A-0E3D-E5D3-177D-55AD1D1B65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7898" y="5907630"/>
                  <a:ext cx="46198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38332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621796-921D-011E-91DC-268E46BBD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9087"/>
            <a:ext cx="4515928" cy="5647876"/>
          </a:xfrm>
        </p:spPr>
        <p:txBody>
          <a:bodyPr>
            <a:normAutofit/>
          </a:bodyPr>
          <a:lstStyle/>
          <a:p>
            <a:r>
              <a:rPr lang="ko-KR" altLang="en-US" sz="1800"/>
              <a:t>트리 축약 후 </a:t>
            </a:r>
            <a:r>
              <a:rPr lang="en-US" altLang="ko-KR" sz="1800"/>
              <a:t>alpha </a:t>
            </a:r>
            <a:r>
              <a:rPr lang="ko-KR" altLang="en-US" sz="1800"/>
              <a:t>범위 구하는 함수</a:t>
            </a:r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0DA136-8590-9A64-4D0D-7E37E2CE75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88211"/>
            <a:ext cx="4438682" cy="36100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6B90CE4D-5333-5824-51C1-D238F98AE71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41852" y="529087"/>
                <a:ext cx="4515928" cy="564787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180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ko-KR" altLang="en-US" sz="1800"/>
                  <a:t>로 설정 후</a:t>
                </a:r>
                <a:r>
                  <a:rPr lang="en-US" altLang="ko-KR" sz="1800"/>
                  <a:t>)</a:t>
                </a:r>
                <a:r>
                  <a:rPr lang="ko-KR" altLang="en-US" sz="1800"/>
                  <a:t>트리 깊이를 늘리며 </a:t>
                </a:r>
                <a:r>
                  <a:rPr lang="en-US" altLang="ko-KR" sz="1800"/>
                  <a:t>alpha </a:t>
                </a:r>
                <a:r>
                  <a:rPr lang="ko-KR" altLang="en-US" sz="1800"/>
                  <a:t>값을 구하면</a:t>
                </a:r>
                <a:r>
                  <a:rPr lang="en-US" altLang="ko-KR" sz="1800"/>
                  <a:t>..</a:t>
                </a:r>
                <a:endParaRPr lang="ko-KR" altLang="en-US" sz="1800"/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6B90CE4D-5333-5824-51C1-D238F98AE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1852" y="529087"/>
                <a:ext cx="4515928" cy="5647876"/>
              </a:xfrm>
              <a:prstGeom prst="rect">
                <a:avLst/>
              </a:prstGeom>
              <a:blipFill>
                <a:blip r:embed="rId3"/>
                <a:stretch>
                  <a:fillRect l="-810" t="-1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5BE65BA-8205-1D62-1B77-50C37ADD9351}"/>
              </a:ext>
            </a:extLst>
          </p:cNvPr>
          <p:cNvSpPr txBox="1"/>
          <p:nvPr/>
        </p:nvSpPr>
        <p:spPr>
          <a:xfrm>
            <a:off x="6487064" y="5779698"/>
            <a:ext cx="53158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필승에 대응되는 </a:t>
            </a:r>
            <a:r>
              <a:rPr lang="en-US" altLang="ko-KR"/>
              <a:t>alpha</a:t>
            </a:r>
            <a:r>
              <a:rPr lang="ko-KR" altLang="en-US"/>
              <a:t>는 </a:t>
            </a:r>
            <a:r>
              <a:rPr lang="en-US" altLang="ko-KR"/>
              <a:t>0</a:t>
            </a:r>
            <a:r>
              <a:rPr lang="ko-KR" altLang="en-US"/>
              <a:t>에 가까워지고</a:t>
            </a:r>
            <a:r>
              <a:rPr lang="en-US" altLang="ko-KR"/>
              <a:t>, </a:t>
            </a:r>
          </a:p>
          <a:p>
            <a:r>
              <a:rPr lang="ko-KR" altLang="en-US"/>
              <a:t>필패에 대응되는 </a:t>
            </a:r>
            <a:r>
              <a:rPr lang="en-US" altLang="ko-KR"/>
              <a:t>alpha</a:t>
            </a:r>
            <a:r>
              <a:rPr lang="ko-KR" altLang="en-US"/>
              <a:t>는 마이너스 방향으로 커짐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11" name="그림 10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B01EE7-DD8C-23AA-1D83-CB4647E08C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832" y="1216129"/>
            <a:ext cx="3238524" cy="405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2340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D61249C-2188-04A2-F741-F8F054AD6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03607"/>
                <a:ext cx="10515600" cy="3801823"/>
              </a:xfrm>
            </p:spPr>
            <p:txBody>
              <a:bodyPr/>
              <a:lstStyle/>
              <a:p>
                <a:r>
                  <a:rPr lang="ko-KR" altLang="en-US"/>
                  <a:t>파동 패킷의 입사 결과를 통해 필패</a:t>
                </a:r>
                <a:r>
                  <a:rPr lang="en-US" altLang="ko-KR"/>
                  <a:t>, </a:t>
                </a:r>
                <a:r>
                  <a:rPr lang="ko-KR" altLang="en-US"/>
                  <a:t>필승를 구분해야한다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다음을 만족하는 충분히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b="0"/>
                  <a:t>를 가정하자</a:t>
                </a:r>
                <a:r>
                  <a:rPr lang="en-US" altLang="ko-KR" b="0"/>
                  <a:t>.</a:t>
                </a:r>
                <a:endParaRPr lang="en-US" altLang="ko-KR"/>
              </a:p>
              <a:p>
                <a:r>
                  <a:rPr lang="ko-KR" altLang="en-US"/>
                  <a:t>필승인 경우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&gt;1</m:t>
                    </m:r>
                    <m:r>
                      <m:rPr>
                        <m:lit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b="0"/>
                  <a:t>, </a:t>
                </a:r>
                <a:r>
                  <a:rPr lang="ko-KR" altLang="en-US" b="0"/>
                  <a:t>필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패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인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경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ko-KR" altLang="en-US" b="0"/>
                  <a:t>를 만족하도록 충분히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b="0"/>
                  <a:t>를 정하자</a:t>
                </a:r>
                <a:r>
                  <a:rPr lang="en-US" altLang="ko-KR" b="0"/>
                  <a:t>. </a:t>
                </a:r>
              </a:p>
              <a:p>
                <a:endParaRPr lang="en-US" altLang="ko-KR" b="0"/>
              </a:p>
              <a:p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D61249C-2188-04A2-F741-F8F054AD6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03607"/>
                <a:ext cx="10515600" cy="3801823"/>
              </a:xfrm>
              <a:blipFill>
                <a:blip r:embed="rId2"/>
                <a:stretch>
                  <a:fillRect l="-1043" t="-2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D1F7E8B-FAA0-B8DD-4348-1EB6CF927146}"/>
              </a:ext>
            </a:extLst>
          </p:cNvPr>
          <p:cNvCxnSpPr/>
          <p:nvPr/>
        </p:nvCxnSpPr>
        <p:spPr>
          <a:xfrm>
            <a:off x="1863306" y="2196860"/>
            <a:ext cx="77177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A5B76C4-3E98-5183-441B-EC258966894C}"/>
              </a:ext>
            </a:extLst>
          </p:cNvPr>
          <p:cNvCxnSpPr/>
          <p:nvPr/>
        </p:nvCxnSpPr>
        <p:spPr>
          <a:xfrm>
            <a:off x="5175849" y="2030083"/>
            <a:ext cx="0" cy="36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D7CB26E-9FE9-25C9-9701-9434EE1DA2C1}"/>
              </a:ext>
            </a:extLst>
          </p:cNvPr>
          <p:cNvSpPr txBox="1"/>
          <p:nvPr/>
        </p:nvSpPr>
        <p:spPr>
          <a:xfrm>
            <a:off x="5041078" y="1631996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</a:t>
            </a:r>
            <a:endParaRPr lang="ko-KR" altLang="en-US"/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7447A048-1D7C-4635-4F8A-B126D8B7BE8B}"/>
              </a:ext>
            </a:extLst>
          </p:cNvPr>
          <p:cNvCxnSpPr/>
          <p:nvPr/>
        </p:nvCxnSpPr>
        <p:spPr>
          <a:xfrm>
            <a:off x="6901132" y="2030083"/>
            <a:ext cx="0" cy="316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4663058-02E4-62C2-C344-E41A57218E82}"/>
              </a:ext>
            </a:extLst>
          </p:cNvPr>
          <p:cNvCxnSpPr>
            <a:cxnSpLocks/>
          </p:cNvCxnSpPr>
          <p:nvPr/>
        </p:nvCxnSpPr>
        <p:spPr>
          <a:xfrm>
            <a:off x="6901132" y="2472906"/>
            <a:ext cx="27834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B9CAADA1-0021-282B-1BA6-C24AE55BED8C}"/>
              </a:ext>
            </a:extLst>
          </p:cNvPr>
          <p:cNvCxnSpPr>
            <a:cxnSpLocks/>
          </p:cNvCxnSpPr>
          <p:nvPr/>
        </p:nvCxnSpPr>
        <p:spPr>
          <a:xfrm>
            <a:off x="4479985" y="2030083"/>
            <a:ext cx="0" cy="36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FBD42DE-3B2D-FF65-1853-1727E07256C5}"/>
                  </a:ext>
                </a:extLst>
              </p:cNvPr>
              <p:cNvSpPr txBox="1"/>
              <p:nvPr/>
            </p:nvSpPr>
            <p:spPr>
              <a:xfrm>
                <a:off x="4193785" y="1609629"/>
                <a:ext cx="5724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FBD42DE-3B2D-FF65-1853-1727E0725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3785" y="1609629"/>
                <a:ext cx="572400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B187661-9DDF-CC93-8F09-F59A770E8E04}"/>
                  </a:ext>
                </a:extLst>
              </p:cNvPr>
              <p:cNvSpPr txBox="1"/>
              <p:nvPr/>
            </p:nvSpPr>
            <p:spPr>
              <a:xfrm>
                <a:off x="6584795" y="1609629"/>
                <a:ext cx="641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lit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B187661-9DDF-CC93-8F09-F59A770E8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795" y="1609629"/>
                <a:ext cx="641329" cy="369332"/>
              </a:xfrm>
              <a:prstGeom prst="rect">
                <a:avLst/>
              </a:prstGeom>
              <a:blipFill>
                <a:blip r:embed="rId4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E61731E0-AA23-4F7C-416A-AC0F024D192F}"/>
              </a:ext>
            </a:extLst>
          </p:cNvPr>
          <p:cNvSpPr/>
          <p:nvPr/>
        </p:nvSpPr>
        <p:spPr>
          <a:xfrm>
            <a:off x="4479985" y="2104845"/>
            <a:ext cx="695857" cy="19616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2E65A05-5D9C-A7BE-218A-4D5F0CB4EC58}"/>
              </a:ext>
            </a:extLst>
          </p:cNvPr>
          <p:cNvSpPr/>
          <p:nvPr/>
        </p:nvSpPr>
        <p:spPr>
          <a:xfrm>
            <a:off x="6901124" y="2104845"/>
            <a:ext cx="2679947" cy="196159"/>
          </a:xfrm>
          <a:prstGeom prst="rect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56EA39-75AF-90A3-ED22-2B16F71C343C}"/>
              </a:ext>
            </a:extLst>
          </p:cNvPr>
          <p:cNvSpPr txBox="1"/>
          <p:nvPr/>
        </p:nvSpPr>
        <p:spPr>
          <a:xfrm>
            <a:off x="4595003" y="2536166"/>
            <a:ext cx="101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필패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3B1D34-CCBF-141F-AEE2-0D04AD59B27A}"/>
              </a:ext>
            </a:extLst>
          </p:cNvPr>
          <p:cNvSpPr txBox="1"/>
          <p:nvPr/>
        </p:nvSpPr>
        <p:spPr>
          <a:xfrm>
            <a:off x="7660255" y="2536166"/>
            <a:ext cx="101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필승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FAEEBA-250D-BAD5-59D9-AE6A697EE49C}"/>
                  </a:ext>
                </a:extLst>
              </p:cNvPr>
              <p:cNvSpPr txBox="1"/>
              <p:nvPr/>
            </p:nvSpPr>
            <p:spPr>
              <a:xfrm>
                <a:off x="9917428" y="1977053"/>
                <a:ext cx="4112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FAEEBA-250D-BAD5-59D9-AE6A697EE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428" y="1977053"/>
                <a:ext cx="41126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11744E4-D519-3AA0-D205-5449FF2E32CD}"/>
                  </a:ext>
                </a:extLst>
              </p:cNvPr>
              <p:cNvSpPr txBox="1"/>
              <p:nvPr/>
            </p:nvSpPr>
            <p:spPr>
              <a:xfrm>
                <a:off x="9386804" y="1644134"/>
                <a:ext cx="4112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11744E4-D519-3AA0-D205-5449FF2E32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6804" y="1644134"/>
                <a:ext cx="41126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490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8CE3F1-48EF-1712-2305-73791D218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428" y="659624"/>
            <a:ext cx="8357144" cy="55387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019A2F-19F3-C9EB-7136-BEF320D2A972}"/>
              </a:ext>
            </a:extLst>
          </p:cNvPr>
          <p:cNvSpPr txBox="1"/>
          <p:nvPr/>
        </p:nvSpPr>
        <p:spPr>
          <a:xfrm>
            <a:off x="4866641" y="3105834"/>
            <a:ext cx="3388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/>
              <a:t>트리의 깊이가 두 단계 깊어질수록 </a:t>
            </a:r>
            <a:r>
              <a:rPr lang="en-US" altLang="ko-KR" sz="2000" b="1"/>
              <a:t>alpha</a:t>
            </a:r>
            <a:r>
              <a:rPr lang="ko-KR" altLang="en-US" sz="2000" b="1"/>
              <a:t>는 절반 감소함</a:t>
            </a:r>
            <a:r>
              <a:rPr lang="en-US" altLang="ko-KR" sz="2000" b="1"/>
              <a:t>.</a:t>
            </a:r>
            <a:endParaRPr lang="ko-KR" altLang="en-US" sz="2000" b="1"/>
          </a:p>
        </p:txBody>
      </p:sp>
    </p:spTree>
    <p:extLst>
      <p:ext uri="{BB962C8B-B14F-4D97-AF65-F5344CB8AC3E}">
        <p14:creationId xmlns:p14="http://schemas.microsoft.com/office/powerpoint/2010/main" val="10427079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F91784-CD3A-A4C5-E02C-0E139F340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알고리즘의 시간 복잡도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6AF3585-22C0-A3DB-EDF5-7EC4ADC083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5805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ko-KR" altLang="en-US"/>
                  <a:t>깊이가 짝수일때</a:t>
                </a:r>
                <a:r>
                  <a:rPr lang="en-US" altLang="ko-KR"/>
                  <a:t>,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b="0"/>
                  <a:t>의</a:t>
                </a:r>
                <a:r>
                  <a:rPr lang="en-US" altLang="ko-KR"/>
                  <a:t> </a:t>
                </a:r>
                <a:r>
                  <a:rPr lang="ko-KR" altLang="en-US"/>
                  <a:t>초기값이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1/</m:t>
                    </m:r>
                    <m:r>
                      <m:rPr>
                        <m:sty m:val="p"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ko-KR" altLang="en-US"/>
                  <a:t>였으므로 트리의 </a:t>
                </a:r>
                <a:r>
                  <a:rPr lang="en-US" altLang="ko-KR"/>
                  <a:t>alpha</a:t>
                </a:r>
                <a:r>
                  <a:rPr lang="ko-KR" altLang="en-US"/>
                  <a:t>값은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sup>
                        </m:sSup>
                      </m:den>
                    </m:f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/>
                  <a:t> </a:t>
                </a:r>
                <a:r>
                  <a:rPr lang="ko-KR" altLang="en-US"/>
                  <a:t>된다</a:t>
                </a:r>
                <a:r>
                  <a:rPr lang="en-US" altLang="ko-KR"/>
                  <a:t>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b="0"/>
                  <a:t>므로</a:t>
                </a:r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/>
                  <a:t>알고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리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즘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안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전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게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행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위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한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/>
                  <a:t>의 값을 상수로 고정시킨다고 가정하면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b="0"/>
              </a:p>
              <a:p>
                <a:pPr marL="0" indent="0">
                  <a:buNone/>
                </a:pPr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6AF3585-22C0-A3DB-EDF5-7EC4ADC083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58055"/>
              </a:xfrm>
              <a:blipFill>
                <a:blip r:embed="rId2"/>
                <a:stretch>
                  <a:fillRect l="-1043" t="-14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76980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054DF39-9361-4CA2-40A6-3BE4586E64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2880"/>
                <a:ext cx="10515600" cy="4724083"/>
              </a:xfrm>
            </p:spPr>
            <p:txBody>
              <a:bodyPr/>
              <a:lstStyle/>
              <a:p>
                <a:r>
                  <a:rPr lang="en-US" altLang="ko-KR"/>
                  <a:t>(</a:t>
                </a:r>
                <a:r>
                  <a:rPr lang="ko-KR" altLang="en-US"/>
                  <a:t>파동이 투과하는 데 걸리는 시간</a:t>
                </a:r>
                <a:r>
                  <a:rPr lang="en-US" altLang="ko-KR"/>
                  <a:t>)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ko-KR" altLang="en-US"/>
                  <a:t> </a:t>
                </a:r>
                <a:r>
                  <a:rPr lang="en-US" altLang="ko-KR"/>
                  <a:t>(</a:t>
                </a:r>
                <a:r>
                  <a:rPr lang="ko-KR" altLang="en-US"/>
                  <a:t>파동패킷의 길이</a:t>
                </a:r>
                <a:r>
                  <a:rPr lang="en-US" altLang="ko-KR"/>
                  <a:t>)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lit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altLang="ko-KR" b="0"/>
              </a:p>
              <a:p>
                <a:r>
                  <a:rPr lang="ko-KR" altLang="en-US" b="0"/>
                  <a:t>따라서 시간 복잡도는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lit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b="0"/>
                  <a:t>가 된다</a:t>
                </a:r>
                <a:r>
                  <a:rPr lang="en-US" altLang="ko-KR" b="0"/>
                  <a:t>.</a:t>
                </a:r>
              </a:p>
              <a:p>
                <a:r>
                  <a:rPr lang="ko-KR" altLang="en-US"/>
                  <a:t>고전적인 방식</a:t>
                </a:r>
                <a:r>
                  <a:rPr lang="en-US" altLang="ko-KR"/>
                  <a:t>(</a:t>
                </a:r>
                <a:r>
                  <a:rPr lang="ko-KR" altLang="en-US"/>
                  <a:t>단순 게임 트리 탐색</a:t>
                </a:r>
                <a:r>
                  <a:rPr lang="en-US" altLang="ko-KR"/>
                  <a:t>)</a:t>
                </a:r>
                <a:r>
                  <a:rPr lang="ko-KR" altLang="en-US"/>
                  <a:t>을 사용하면 게임 트리를 계산하는 데에 걸리는 시간은 최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악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의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경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b="0"/>
                  <a:t>이지만</a:t>
                </a:r>
                <a:r>
                  <a:rPr lang="en-US" altLang="ko-KR" b="0"/>
                  <a:t>, </a:t>
                </a:r>
                <a:r>
                  <a:rPr lang="ko-KR" altLang="en-US"/>
                  <a:t>게임트리에 해당하는 해밀토니안을 정의하고 파동 패킷에 대해 시간 진화를 수행하면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lit/>
                              </m:rPr>
                              <a:rPr lang="en-US" altLang="ko-KR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b="0"/>
                  <a:t>내에 계산할 수 있게 된다</a:t>
                </a:r>
                <a:r>
                  <a:rPr lang="en-US" altLang="ko-KR" b="0"/>
                  <a:t>.</a:t>
                </a:r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054DF39-9361-4CA2-40A6-3BE4586E64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2880"/>
                <a:ext cx="10515600" cy="4724083"/>
              </a:xfrm>
              <a:blipFill>
                <a:blip r:embed="rId2"/>
                <a:stretch>
                  <a:fillRect l="-1043" t="-6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97227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75399-3072-0EA0-680C-ADD703792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의의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58A19BE-960C-FDFF-87D0-3BBF76D242D8}"/>
              </a:ext>
            </a:extLst>
          </p:cNvPr>
          <p:cNvGrpSpPr/>
          <p:nvPr/>
        </p:nvGrpSpPr>
        <p:grpSpPr>
          <a:xfrm>
            <a:off x="667110" y="2349261"/>
            <a:ext cx="3279093" cy="3289536"/>
            <a:chOff x="741872" y="2127850"/>
            <a:chExt cx="3611592" cy="3623094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ED6FB1E-C342-3AFC-29F9-BAB476E4ACBF}"/>
                </a:ext>
              </a:extLst>
            </p:cNvPr>
            <p:cNvSpPr/>
            <p:nvPr/>
          </p:nvSpPr>
          <p:spPr>
            <a:xfrm>
              <a:off x="741872" y="2127850"/>
              <a:ext cx="3611592" cy="3623094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3E8A188-F9E1-6004-B36C-B7732E99374D}"/>
                </a:ext>
              </a:extLst>
            </p:cNvPr>
            <p:cNvSpPr/>
            <p:nvPr/>
          </p:nvSpPr>
          <p:spPr>
            <a:xfrm>
              <a:off x="994913" y="3329796"/>
              <a:ext cx="3094007" cy="2421147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19E6D5B5-D1DE-C342-FEEB-B7465B3B59E8}"/>
                </a:ext>
              </a:extLst>
            </p:cNvPr>
            <p:cNvSpPr/>
            <p:nvPr/>
          </p:nvSpPr>
          <p:spPr>
            <a:xfrm>
              <a:off x="1656272" y="4370717"/>
              <a:ext cx="1811547" cy="138022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P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68A511-7842-2B70-6D89-02B1C7F8F379}"/>
                </a:ext>
              </a:extLst>
            </p:cNvPr>
            <p:cNvSpPr txBox="1"/>
            <p:nvPr/>
          </p:nvSpPr>
          <p:spPr>
            <a:xfrm>
              <a:off x="2315823" y="3755532"/>
              <a:ext cx="492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NP</a:t>
              </a:r>
              <a:endParaRPr lang="ko-KR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6D41C82-525E-9EA0-17B2-E86F239E2D51}"/>
                </a:ext>
              </a:extLst>
            </p:cNvPr>
            <p:cNvSpPr txBox="1"/>
            <p:nvPr/>
          </p:nvSpPr>
          <p:spPr>
            <a:xfrm>
              <a:off x="2058514" y="2652872"/>
              <a:ext cx="966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PSPACE</a:t>
              </a:r>
              <a:endParaRPr lang="ko-KR" altLang="en-US"/>
            </a:p>
          </p:txBody>
        </p:sp>
      </p:grp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E429B09-06D6-5EE4-3775-C417E18AA7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640004" y="5012218"/>
            <a:ext cx="2448877" cy="319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7D8BA65-ADAC-06E7-D5C6-0D3A6A6AD1FB}"/>
              </a:ext>
            </a:extLst>
          </p:cNvPr>
          <p:cNvSpPr txBox="1"/>
          <p:nvPr/>
        </p:nvSpPr>
        <p:spPr>
          <a:xfrm>
            <a:off x="5088881" y="5146563"/>
            <a:ext cx="3445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다항 시간 내에 풀 수 있는 문제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30BB40E-84A7-0285-3BE3-7DAE319AA25B}"/>
              </a:ext>
            </a:extLst>
          </p:cNvPr>
          <p:cNvCxnSpPr>
            <a:cxnSpLocks/>
          </p:cNvCxnSpPr>
          <p:nvPr/>
        </p:nvCxnSpPr>
        <p:spPr>
          <a:xfrm>
            <a:off x="2740331" y="4048665"/>
            <a:ext cx="23000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E45C072-FADF-D722-E99E-E1808747A2D5}"/>
              </a:ext>
            </a:extLst>
          </p:cNvPr>
          <p:cNvSpPr txBox="1"/>
          <p:nvPr/>
        </p:nvSpPr>
        <p:spPr>
          <a:xfrm>
            <a:off x="5088881" y="3700756"/>
            <a:ext cx="39681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참인 사례가 주어질 때 그것을 다항 시간 내에 검증할 수 있는 문제</a:t>
            </a:r>
            <a:endParaRPr lang="en-US" altLang="ko-KR"/>
          </a:p>
          <a:p>
            <a:r>
              <a:rPr lang="en-US" altLang="ko-KR"/>
              <a:t>- </a:t>
            </a:r>
            <a:r>
              <a:rPr lang="ko-KR" altLang="en-US"/>
              <a:t>퍼즐류 문제</a:t>
            </a:r>
            <a:r>
              <a:rPr lang="en-US" altLang="ko-KR"/>
              <a:t>, </a:t>
            </a:r>
            <a:r>
              <a:rPr lang="ko-KR" altLang="en-US"/>
              <a:t>충족 가능성 문제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399BD8F-CE20-6C1C-3AED-4BE804692A3F}"/>
              </a:ext>
            </a:extLst>
          </p:cNvPr>
          <p:cNvCxnSpPr>
            <a:cxnSpLocks/>
          </p:cNvCxnSpPr>
          <p:nvPr/>
        </p:nvCxnSpPr>
        <p:spPr>
          <a:xfrm>
            <a:off x="2939213" y="2993612"/>
            <a:ext cx="23000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BD679AC-8EF4-A480-0295-D20E1DE18747}"/>
              </a:ext>
            </a:extLst>
          </p:cNvPr>
          <p:cNvSpPr txBox="1"/>
          <p:nvPr/>
        </p:nvSpPr>
        <p:spPr>
          <a:xfrm>
            <a:off x="5239270" y="2531947"/>
            <a:ext cx="3433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다항 공간 내에 풀 수 있는 문제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ko-KR" altLang="en-US"/>
              <a:t>게임의 필승</a:t>
            </a:r>
            <a:r>
              <a:rPr lang="en-US" altLang="ko-KR"/>
              <a:t>/</a:t>
            </a:r>
            <a:r>
              <a:rPr lang="ko-KR" altLang="en-US"/>
              <a:t>필패 여부 찾기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226228F-965B-8786-19BB-820EC0820076}"/>
                  </a:ext>
                </a:extLst>
              </p:cNvPr>
              <p:cNvSpPr txBox="1"/>
              <p:nvPr/>
            </p:nvSpPr>
            <p:spPr>
              <a:xfrm>
                <a:off x="9167004" y="3863999"/>
                <a:ext cx="793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226228F-965B-8786-19BB-820EC0820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004" y="3863999"/>
                <a:ext cx="79310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47EE5E-6316-BDB1-C57F-76CD0837E911}"/>
                  </a:ext>
                </a:extLst>
              </p:cNvPr>
              <p:cNvSpPr txBox="1"/>
              <p:nvPr/>
            </p:nvSpPr>
            <p:spPr>
              <a:xfrm>
                <a:off x="10745509" y="3863999"/>
                <a:ext cx="960455" cy="4223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47EE5E-6316-BDB1-C57F-76CD0837E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5509" y="3863999"/>
                <a:ext cx="960455" cy="4223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8F367E-F51E-F98C-A358-08C32EA5616F}"/>
                  </a:ext>
                </a:extLst>
              </p:cNvPr>
              <p:cNvSpPr txBox="1"/>
              <p:nvPr/>
            </p:nvSpPr>
            <p:spPr>
              <a:xfrm>
                <a:off x="10730279" y="4254754"/>
                <a:ext cx="11297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8F367E-F51E-F98C-A358-08C32EA56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0279" y="4254754"/>
                <a:ext cx="1129732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577EDBAB-DDF4-202E-5A9E-203E96DFCB5F}"/>
              </a:ext>
            </a:extLst>
          </p:cNvPr>
          <p:cNvSpPr txBox="1"/>
          <p:nvPr/>
        </p:nvSpPr>
        <p:spPr>
          <a:xfrm>
            <a:off x="10777663" y="4539674"/>
            <a:ext cx="11913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(</a:t>
            </a:r>
            <a:r>
              <a:rPr lang="ko-KR" altLang="en-US" sz="1400"/>
              <a:t>소인수분해</a:t>
            </a:r>
            <a:r>
              <a:rPr lang="en-US" altLang="ko-KR" sz="1400"/>
              <a:t>)</a:t>
            </a:r>
            <a:endParaRPr lang="ko-KR" altLang="en-US" sz="1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B4C85D5-DBAE-6401-12B4-023E3D6882FB}"/>
                  </a:ext>
                </a:extLst>
              </p:cNvPr>
              <p:cNvSpPr txBox="1"/>
              <p:nvPr/>
            </p:nvSpPr>
            <p:spPr>
              <a:xfrm>
                <a:off x="9167004" y="2657842"/>
                <a:ext cx="793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B4C85D5-DBAE-6401-12B4-023E3D688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004" y="2657842"/>
                <a:ext cx="79310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5CF4BC-3082-0115-BAF7-C053B0E766B2}"/>
                  </a:ext>
                </a:extLst>
              </p:cNvPr>
              <p:cNvSpPr txBox="1"/>
              <p:nvPr/>
            </p:nvSpPr>
            <p:spPr>
              <a:xfrm>
                <a:off x="10777663" y="2657842"/>
                <a:ext cx="960456" cy="4223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en-US" altLang="ko-KR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5CF4BC-3082-0115-BAF7-C053B0E76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663" y="2657842"/>
                <a:ext cx="960456" cy="4223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5F99C6F-AFA7-F4B3-6535-A0093965B4D7}"/>
              </a:ext>
            </a:extLst>
          </p:cNvPr>
          <p:cNvSpPr txBox="1"/>
          <p:nvPr/>
        </p:nvSpPr>
        <p:spPr>
          <a:xfrm>
            <a:off x="1050772" y="1783021"/>
            <a:ext cx="2677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/>
              <a:t>Time Complexity Class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18189074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1376BE-A88B-EFC2-996F-8DBF1CA67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Reference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41DCEF-AB4A-507A-0BE7-EBEF27D39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Cristopher Moore and Stephan Mertens, Nature of Computation, Oxford University Press (2011)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328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1245</TotalTime>
  <Words>1242</Words>
  <Application>Microsoft Office PowerPoint</Application>
  <PresentationFormat>와이드스크린</PresentationFormat>
  <Paragraphs>242</Paragraphs>
  <Slides>37</Slides>
  <Notes>0</Notes>
  <HiddenSlides>5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1" baseType="lpstr">
      <vt:lpstr>맑은 고딕</vt:lpstr>
      <vt:lpstr>Arial</vt:lpstr>
      <vt:lpstr>Cambria Math</vt:lpstr>
      <vt:lpstr>Office 테마</vt:lpstr>
      <vt:lpstr>Quantum Walks and Game Tree Scattering</vt:lpstr>
      <vt:lpstr>고전적 랜덤 워크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양자 랜덤 워크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게임 트리 평가 알고리즘</vt:lpstr>
      <vt:lpstr>필승, 필패 평가</vt:lpstr>
      <vt:lpstr>루프가 첨가된 라인 그래프</vt:lpstr>
      <vt:lpstr>PowerPoint 프레젠테이션</vt:lpstr>
      <vt:lpstr>엣지 + 루프 첨가</vt:lpstr>
      <vt:lpstr>PowerPoint 프레젠테이션</vt:lpstr>
      <vt:lpstr>브랜치 첨가</vt:lpstr>
      <vt:lpstr>PowerPoint 프레젠테이션</vt:lpstr>
      <vt:lpstr>축약 규칙</vt:lpstr>
      <vt:lpstr>PowerPoint 프레젠테이션</vt:lpstr>
      <vt:lpstr>PowerPoint 프레젠테이션</vt:lpstr>
      <vt:lpstr>파동 패킷을 이용한 구현</vt:lpstr>
      <vt:lpstr>PowerPoint 프레젠테이션</vt:lpstr>
      <vt:lpstr>PowerPoint 프레젠테이션</vt:lpstr>
      <vt:lpstr>PowerPoint 프레젠테이션</vt:lpstr>
      <vt:lpstr>PowerPoint 프레젠테이션</vt:lpstr>
      <vt:lpstr>알고리즘의 시간 복잡도</vt:lpstr>
      <vt:lpstr>PowerPoint 프레젠테이션</vt:lpstr>
      <vt:lpstr>의의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강효민</dc:creator>
  <cp:lastModifiedBy>강효민</cp:lastModifiedBy>
  <cp:revision>20</cp:revision>
  <dcterms:created xsi:type="dcterms:W3CDTF">2025-12-09T09:22:54Z</dcterms:created>
  <dcterms:modified xsi:type="dcterms:W3CDTF">2025-12-11T11:27:24Z</dcterms:modified>
</cp:coreProperties>
</file>