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3" r:id="rId17"/>
    <p:sldId id="272" r:id="rId18"/>
    <p:sldId id="271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570A47-8898-C40D-C1F2-2282A484B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F8618E-C644-D9BA-058A-02B4DA25D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6F3CB9-0590-537D-BB29-74A7BFAA6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E2BF-D3AA-4C43-9304-B3731588355D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5BB0DA-310C-F380-B381-710A08474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999DC9-9E6B-2DCE-9FC2-92230F818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DB4-5CFA-4792-8B26-070D0EE4C7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8783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DD1983-F44B-A50A-E399-C3BA9BD30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C79CBC-47D2-7033-0017-F7F753EDA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5D688A-3548-AC74-FF7C-1CB85B718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E2BF-D3AA-4C43-9304-B3731588355D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91E4E6-6852-1F21-4E6E-15282B898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AAF53D-C60D-D7F2-407A-7C2B043D8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DB4-5CFA-4792-8B26-070D0EE4C7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0816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4F3C72-DDB8-DD13-A77D-46BB68835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F5C850-2308-7B85-49C4-4398B33E6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459AA1-715D-9B4E-0FC0-D451A0F3F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E2BF-D3AA-4C43-9304-B3731588355D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40DA1D-CB42-068A-6982-A1DC3CC59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D735A2-10E4-462A-3EB9-4622D9E87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DB4-5CFA-4792-8B26-070D0EE4C7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507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9FA152-C6EE-6798-98A5-4B88000C2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B4BD86-13F2-6C08-1072-7C68E472AD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8CFED9-7790-6D71-1CE9-17A9AA7A1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3CDDDE-B786-5022-D0FD-DA892CA29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E2BF-D3AA-4C43-9304-B3731588355D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ADC456-D159-0302-7B2A-23BAC2D0E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CE5A26-AC52-B8BA-9D7B-E03FB5F88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DB4-5CFA-4792-8B26-070D0EE4C7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412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212BB-7BEC-B963-E749-53A5FC3EB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9D5B9E-121F-15CA-B8A6-EE266D824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A4291D-D0EC-442B-693A-830D7AFF2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14B9165-43E5-E925-A046-318DBEB234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FB34A7-4B81-B6B2-3964-4127CA65C6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610AC61-B0AE-2DB3-6F52-0BC657342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E2BF-D3AA-4C43-9304-B3731588355D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EEA9BB3-AAC8-EFFD-FDE8-0B692972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713FFBD-BCD9-2FA5-14E9-77A874309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DB4-5CFA-4792-8B26-070D0EE4C7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085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B4B0F-01AB-46AE-BB37-5A5A09ADC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FC72617-CF81-26A9-16F2-376FD38BC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E2BF-D3AA-4C43-9304-B3731588355D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15E6347-F69D-0907-75C3-FD94E932A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81357C-123F-DA45-6195-862AE02D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DB4-5CFA-4792-8B26-070D0EE4C7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673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C683CE4-A171-3C9D-3A65-61636C36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E2BF-D3AA-4C43-9304-B3731588355D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FEC110-3DE5-9862-EF27-53E112783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E3CE-F5EB-4379-4B94-FB395CF32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DB4-5CFA-4792-8B26-070D0EE4C7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404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15EFE-88FF-B855-0C7F-2D5950B0D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5EE803-28CE-6238-CC97-3D478D7DF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2E410A-D81B-4966-C00D-077D78B2C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F921C0-38C3-25E6-6D17-EEFBCB7F8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E2BF-D3AA-4C43-9304-B3731588355D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F4D0C1-EC15-A695-65E3-BCAF066F9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8E5EE8-1B56-AC65-DF93-7266C94F9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DB4-5CFA-4792-8B26-070D0EE4C7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963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FB8954-3483-680E-3561-AFA5BF896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42E65E4-CEB3-DC86-A3D6-127403CB68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44E202-E292-6C28-E39F-F8862F21C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F6497C-D03A-343B-B1C0-B2E49763B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E2BF-D3AA-4C43-9304-B3731588355D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A7148F-AD84-2793-9421-84402AF38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1CFC91-DD0C-A09A-C5A5-6D5235131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DB4-5CFA-4792-8B26-070D0EE4C7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546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7DA1A2-140D-6898-FD20-98ABE89A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2430D6-81A2-B56F-2ACB-85FC5F276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0F4224-1B8A-AD19-47A8-F344ACDFD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E2BF-D3AA-4C43-9304-B3731588355D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6E9E9D-7900-2F22-5A51-4659B5569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838212-6F53-33ED-C9B5-C5C9DD426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DB4-5CFA-4792-8B26-070D0EE4C7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146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6ADDCF3-7F03-10FB-82F0-4990DA4601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0831F4E-638E-FA5D-E1A7-BC91FC9AE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76A395-2BD9-092E-F2F0-C672E9D1C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7E2BF-D3AA-4C43-9304-B3731588355D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AD13F5-8893-5D8B-EAA4-3B02B2DD3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385D67-7ECC-38B4-6634-5B82DAA05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DB4-5CFA-4792-8B26-070D0EE4C7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638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7AB0851-5368-1213-CEAC-F2C9BC91E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2D3797-44DF-D2DB-3035-5558EB834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E3158-C903-A077-4409-045583B77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77E2BF-D3AA-4C43-9304-B3731588355D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159368-1827-2DA0-E043-BF1350699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1CB28D-9A0D-5D2C-1872-C92CCAD2C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2EDDB4-5CFA-4792-8B26-070D0EE4C7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154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15323F-FA7A-E7B4-417E-7FAE7DDB1F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게임 트리 탐색을 위한</a:t>
            </a:r>
            <a:br>
              <a:rPr lang="en-US" altLang="ko-KR"/>
            </a:br>
            <a:r>
              <a:rPr lang="ko-KR" altLang="en-US"/>
              <a:t>양자 알고리즘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373929F-7926-DED5-2C04-8ECA331D13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전산물리학</a:t>
            </a:r>
            <a:r>
              <a:rPr lang="en-US" altLang="ko-KR"/>
              <a:t>2 </a:t>
            </a:r>
            <a:r>
              <a:rPr lang="ko-KR" altLang="en-US"/>
              <a:t>강효민</a:t>
            </a:r>
          </a:p>
        </p:txBody>
      </p:sp>
    </p:spTree>
    <p:extLst>
      <p:ext uri="{BB962C8B-B14F-4D97-AF65-F5344CB8AC3E}">
        <p14:creationId xmlns:p14="http://schemas.microsoft.com/office/powerpoint/2010/main" val="374737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029E53-E04D-04DD-28DD-923D180AC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고전적 랜덤 워크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2238E5B-DE29-F901-3154-DD8DDC7CA3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/>
                  <a:t>정의 </a:t>
                </a:r>
                <a:r>
                  <a:rPr lang="en-US" altLang="ko-KR"/>
                  <a:t>: </a:t>
                </a:r>
                <a:r>
                  <a:rPr lang="ko-KR" altLang="en-US"/>
                  <a:t>무한한 수직 선 위에서 시</a:t>
                </a:r>
                <a14:m>
                  <m:oMath xmlns:m="http://schemas.openxmlformats.org/officeDocument/2006/math">
                    <m:r>
                      <a:rPr lang="ko-KR" altLang="en-US" b="0" i="1">
                        <a:latin typeface="Cambria Math" panose="02040503050406030204" pitchFamily="18" charset="0"/>
                      </a:rPr>
                      <m:t>간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간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격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내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i="1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i="1"/>
                  <a:t> </a:t>
                </a:r>
                <a:r>
                  <a:rPr lang="ko-KR" altLang="en-US"/>
                  <a:t>확률로 왼쪽</a:t>
                </a:r>
                <a:r>
                  <a:rPr lang="en-US" altLang="ko-KR"/>
                  <a:t>, </a:t>
                </a:r>
                <a:r>
                  <a:rPr lang="ko-KR" altLang="en-US"/>
                  <a:t>또는 오른쪽으로 이동한다고 가정하자</a:t>
                </a:r>
                <a:r>
                  <a:rPr lang="en-US" altLang="ko-KR"/>
                  <a:t>. </a:t>
                </a:r>
                <a:r>
                  <a:rPr lang="ko-KR" altLang="en-US"/>
                  <a:t>이때 각 방향으로 이동할 확률은 </a:t>
                </a:r>
                <a:r>
                  <a:rPr lang="en-US" altLang="ko-KR"/>
                  <a:t>1/2 </a:t>
                </a:r>
                <a:r>
                  <a:rPr lang="ko-KR" altLang="en-US"/>
                  <a:t>로 동일하다</a:t>
                </a:r>
                <a:r>
                  <a:rPr lang="en-US" altLang="ko-KR"/>
                  <a:t>.</a:t>
                </a:r>
              </a:p>
              <a:p>
                <a:r>
                  <a:rPr lang="ko-KR" altLang="en-US"/>
                  <a:t>이 과정은 연속시간 마르코프 체인의 일종이고</a:t>
                </a:r>
                <a:r>
                  <a:rPr lang="en-US" altLang="ko-KR"/>
                  <a:t>, </a:t>
                </a:r>
                <a:r>
                  <a:rPr lang="ko-KR" altLang="en-US"/>
                  <a:t>확률 분포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/>
                  <a:t>와 전이 행렬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en-US"/>
                  <a:t>가 정의되어</a:t>
                </a:r>
                <a:r>
                  <a:rPr lang="en-US" altLang="ko-KR"/>
                  <a:t> </a:t>
                </a:r>
                <a:r>
                  <a:rPr lang="ko-KR" altLang="en-US"/>
                  <a:t>다음을 만족한다</a:t>
                </a:r>
                <a:r>
                  <a:rPr lang="en-US" altLang="ko-KR"/>
                  <a:t>.</a:t>
                </a:r>
              </a:p>
              <a:p>
                <a:pPr marL="0" indent="0">
                  <a:buNone/>
                </a:pPr>
                <a:endParaRPr lang="en-US" altLang="ko-KR"/>
              </a:p>
              <a:p>
                <a:pPr marL="0" indent="0">
                  <a:buNone/>
                </a:pPr>
                <a:endParaRPr lang="en-US" altLang="ko-KR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2238E5B-DE29-F901-3154-DD8DDC7CA3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6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72E187D9-C568-5998-A1E7-A188F9E7D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976" y="4272842"/>
            <a:ext cx="3110788" cy="2220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401B86-FB6F-59CB-6AEB-224FEFE252B7}"/>
                  </a:ext>
                </a:extLst>
              </p:cNvPr>
              <p:cNvSpPr txBox="1"/>
              <p:nvPr/>
            </p:nvSpPr>
            <p:spPr>
              <a:xfrm>
                <a:off x="4929620" y="5432907"/>
                <a:ext cx="609686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𝑑𝑡𝐻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d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ko-KR" altLang="en-US" sz="240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401B86-FB6F-59CB-6AEB-224FEFE25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9620" y="5432907"/>
                <a:ext cx="6096866" cy="461665"/>
              </a:xfrm>
              <a:prstGeom prst="rect">
                <a:avLst/>
              </a:prstGeom>
              <a:blipFill>
                <a:blip r:embed="rId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080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A7FC476-3CA5-A390-ED26-A3DB8AF622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72827"/>
                <a:ext cx="10515600" cy="570894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ko-KR" altLang="en-US"/>
                  <a:t>는 미분 방정식</a:t>
                </a:r>
                <a:endParaRPr lang="en-US" altLang="ko-KR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ko-KR" b="0"/>
              </a:p>
              <a:p>
                <a:pPr marL="0" indent="0">
                  <a:buNone/>
                </a:pPr>
                <a:r>
                  <a:rPr lang="ko-KR" altLang="en-US"/>
                  <a:t>로 나타낼 수 있고</a:t>
                </a:r>
                <a:r>
                  <a:rPr lang="en-US" altLang="ko-KR"/>
                  <a:t>, </a:t>
                </a:r>
                <a:r>
                  <a:rPr lang="ko-KR" altLang="en-US"/>
                  <a:t>해는</a:t>
                </a:r>
                <a:endParaRPr lang="en-US" altLang="ko-KR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ko-KR" b="0"/>
              </a:p>
              <a:p>
                <a:pPr marL="0" indent="0">
                  <a:buNone/>
                </a:pPr>
                <a:r>
                  <a:rPr lang="ko-KR" altLang="en-US"/>
                  <a:t>가 된다</a:t>
                </a:r>
                <a:r>
                  <a:rPr lang="en-US" altLang="ko-KR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/>
                  <a:t>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/>
                  <a:t> 값을 구하기 위해서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/>
                  <a:t>를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ko-KR" altLang="en-US"/>
                  <a:t>의 고유벡터를 기저로 분해하면 쉽게 구할 수 있다</a:t>
                </a:r>
                <a:r>
                  <a:rPr lang="en-US" altLang="ko-KR"/>
                  <a:t>. H</a:t>
                </a:r>
                <a:r>
                  <a:rPr lang="ko-KR" altLang="en-US"/>
                  <a:t>의 고유벡터는 푸리에 기저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𝑖𝑘𝑛</m:t>
                        </m:r>
                      </m:sup>
                    </m:sSup>
                  </m:oMath>
                </a14:m>
                <a:r>
                  <a:rPr lang="ko-KR" altLang="en-US"/>
                  <a:t>이다</a:t>
                </a:r>
                <a:r>
                  <a:rPr lang="en-US" altLang="ko-KR"/>
                  <a:t>. (</a:t>
                </a:r>
                <a:r>
                  <a:rPr lang="ko-KR" altLang="en-US"/>
                  <a:t>고윳값은 </a:t>
                </a:r>
                <a:r>
                  <a:rPr lang="en-US" altLang="ko-KR"/>
                  <a:t>cosk)</a:t>
                </a:r>
              </a:p>
              <a:p>
                <a:pPr marL="0" indent="0">
                  <a:buNone/>
                </a:pPr>
                <a:r>
                  <a:rPr lang="en-US" altLang="ko-KR"/>
                  <a:t>(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𝐻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𝑖𝑘𝑛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𝑖𝑘</m:t>
                            </m:r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p>
                        </m:s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𝑖𝑘</m:t>
                            </m:r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func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𝑖𝑘𝑛</m:t>
                        </m:r>
                      </m:sup>
                    </m:sSup>
                  </m:oMath>
                </a14:m>
                <a:endParaRPr lang="ko-KR" altLang="en-US"/>
              </a:p>
              <a:p>
                <a:pPr marL="0" indent="0">
                  <a:buNone/>
                </a:pPr>
                <a:endParaRPr lang="ko-KR" altLang="en-US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A7FC476-3CA5-A390-ED26-A3DB8AF622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72827"/>
                <a:ext cx="10515600" cy="5708948"/>
              </a:xfrm>
              <a:blipFill>
                <a:blip r:embed="rId2"/>
                <a:stretch>
                  <a:fillRect l="-1217" t="-18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539CF0-A4E2-2EA2-4879-C6FC33FF69AD}"/>
                  </a:ext>
                </a:extLst>
              </p:cNvPr>
              <p:cNvSpPr txBox="1"/>
              <p:nvPr/>
            </p:nvSpPr>
            <p:spPr>
              <a:xfrm>
                <a:off x="788843" y="276225"/>
                <a:ext cx="389745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𝑑𝑡𝐻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d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ko-KR" altLang="en-US" sz="24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539CF0-A4E2-2EA2-4879-C6FC33FF6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43" y="276225"/>
                <a:ext cx="3897457" cy="461665"/>
              </a:xfrm>
              <a:prstGeom prst="rect">
                <a:avLst/>
              </a:prstGeom>
              <a:blipFill>
                <a:blip r:embed="rId3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4949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4E393-6D98-3567-A158-1945882E0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FA57396-182B-B572-1D8E-82E489423C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98177"/>
                <a:ext cx="10515600" cy="375473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/>
                  <a:t>를 푸리에 변환하면</a:t>
                </a:r>
                <a:endParaRPr lang="en-US" altLang="ko-KR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acc>
                            <m:accPr>
                              <m:chr m:val="̃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acc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𝑖𝑘𝑥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𝑑𝑘</m:t>
                          </m:r>
                        </m:e>
                      </m:nary>
                    </m:oMath>
                  </m:oMathPara>
                </a14:m>
                <a:endParaRPr lang="en-US" altLang="ko-KR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/>
                  <a:t>일 때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/>
                  <a:t>에서 출발했다면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/>
                  <a:t>는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/>
                  <a:t>에 확률 </a:t>
                </a:r>
                <a:r>
                  <a:rPr lang="en-US" altLang="ko-KR"/>
                  <a:t>1</a:t>
                </a:r>
                <a:r>
                  <a:rPr lang="ko-KR" altLang="en-US"/>
                  <a:t>로 분포되어 있으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므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로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̃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ko-KR" altLang="en-US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ko-KR" altLang="en-US"/>
                  <a:t> 모든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ko-KR" altLang="en-US"/>
                  <a:t>에 대해서 </a:t>
                </a:r>
                <a:r>
                  <a:rPr lang="en-US" altLang="ko-KR"/>
                  <a:t>1</a:t>
                </a:r>
                <a:r>
                  <a:rPr lang="ko-KR" altLang="en-US"/>
                  <a:t>의 값을 같는다</a:t>
                </a:r>
                <a:r>
                  <a:rPr lang="en-US" altLang="ko-KR"/>
                  <a:t>.</a:t>
                </a:r>
                <a:endParaRPr lang="ko-KR" altLang="en-US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FA57396-182B-B572-1D8E-82E489423C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98177"/>
                <a:ext cx="10515600" cy="3754736"/>
              </a:xfrm>
              <a:blipFill>
                <a:blip r:embed="rId2"/>
                <a:stretch>
                  <a:fillRect l="-1217" t="-2922" r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52D35780-97E6-7401-FD03-951070785394}"/>
              </a:ext>
            </a:extLst>
          </p:cNvPr>
          <p:cNvCxnSpPr/>
          <p:nvPr/>
        </p:nvCxnSpPr>
        <p:spPr>
          <a:xfrm>
            <a:off x="1676400" y="5588000"/>
            <a:ext cx="2705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5406E5FF-40FB-A517-C8C7-3CCC03EFB420}"/>
              </a:ext>
            </a:extLst>
          </p:cNvPr>
          <p:cNvCxnSpPr>
            <a:cxnSpLocks/>
          </p:cNvCxnSpPr>
          <p:nvPr/>
        </p:nvCxnSpPr>
        <p:spPr>
          <a:xfrm flipV="1">
            <a:off x="2927350" y="3714750"/>
            <a:ext cx="0" cy="18732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06D8C0-4D31-D205-9B3D-61DA33611761}"/>
                  </a:ext>
                </a:extLst>
              </p:cNvPr>
              <p:cNvSpPr txBox="1"/>
              <p:nvPr/>
            </p:nvSpPr>
            <p:spPr>
              <a:xfrm>
                <a:off x="2927350" y="3386138"/>
                <a:ext cx="8143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06D8C0-4D31-D205-9B3D-61DA33611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7350" y="3386138"/>
                <a:ext cx="814390" cy="369332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타원 10">
            <a:extLst>
              <a:ext uri="{FF2B5EF4-FFF2-40B4-BE49-F238E27FC236}">
                <a16:creationId xmlns:a16="http://schemas.microsoft.com/office/drawing/2014/main" id="{E2163E33-35B3-2CF3-0176-8FFA8FB867FC}"/>
              </a:ext>
            </a:extLst>
          </p:cNvPr>
          <p:cNvSpPr/>
          <p:nvPr/>
        </p:nvSpPr>
        <p:spPr>
          <a:xfrm>
            <a:off x="2877939" y="4371977"/>
            <a:ext cx="98822" cy="9882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AD07C60-C07E-E1AD-5DBE-16F5A1047540}"/>
              </a:ext>
            </a:extLst>
          </p:cNvPr>
          <p:cNvCxnSpPr/>
          <p:nvPr/>
        </p:nvCxnSpPr>
        <p:spPr>
          <a:xfrm>
            <a:off x="1633538" y="5588000"/>
            <a:ext cx="260032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888DF81-2D9F-4DF1-D4F0-3C094291E01B}"/>
              </a:ext>
            </a:extLst>
          </p:cNvPr>
          <p:cNvCxnSpPr/>
          <p:nvPr/>
        </p:nvCxnSpPr>
        <p:spPr>
          <a:xfrm>
            <a:off x="6393752" y="5588000"/>
            <a:ext cx="2705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E5E8791-3C77-8C86-A3AD-DEC6734FF5EA}"/>
              </a:ext>
            </a:extLst>
          </p:cNvPr>
          <p:cNvCxnSpPr>
            <a:cxnSpLocks/>
          </p:cNvCxnSpPr>
          <p:nvPr/>
        </p:nvCxnSpPr>
        <p:spPr>
          <a:xfrm flipV="1">
            <a:off x="7644702" y="3714750"/>
            <a:ext cx="0" cy="18732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5F237F0-604F-BAD7-5DB5-5CAC2F1DB377}"/>
                  </a:ext>
                </a:extLst>
              </p:cNvPr>
              <p:cNvSpPr txBox="1"/>
              <p:nvPr/>
            </p:nvSpPr>
            <p:spPr>
              <a:xfrm>
                <a:off x="7644702" y="3386138"/>
                <a:ext cx="816570" cy="3776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5F237F0-604F-BAD7-5DB5-5CAC2F1DB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4702" y="3386138"/>
                <a:ext cx="816570" cy="377667"/>
              </a:xfrm>
              <a:prstGeom prst="rect">
                <a:avLst/>
              </a:prstGeom>
              <a:blipFill>
                <a:blip r:embed="rId4"/>
                <a:stretch>
                  <a:fillRect t="-1613" r="-2985" b="-16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5930EDC-8445-C07B-78B2-C83B4FE97F56}"/>
              </a:ext>
            </a:extLst>
          </p:cNvPr>
          <p:cNvCxnSpPr/>
          <p:nvPr/>
        </p:nvCxnSpPr>
        <p:spPr>
          <a:xfrm>
            <a:off x="6350890" y="4451629"/>
            <a:ext cx="260032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A14FEE6-E5D9-426A-AFE0-5DA046199561}"/>
              </a:ext>
            </a:extLst>
          </p:cNvPr>
          <p:cNvSpPr txBox="1"/>
          <p:nvPr/>
        </p:nvSpPr>
        <p:spPr>
          <a:xfrm>
            <a:off x="7333398" y="405599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6E07BE-0D2C-C1F4-3BB4-482B5058A272}"/>
              </a:ext>
            </a:extLst>
          </p:cNvPr>
          <p:cNvSpPr txBox="1"/>
          <p:nvPr/>
        </p:nvSpPr>
        <p:spPr>
          <a:xfrm>
            <a:off x="2566634" y="405599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989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0884A-591F-CE1B-1405-4ED1AA136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33C86E9B-8D52-BD02-35E5-5F1780D072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28146"/>
                <a:ext cx="10515600" cy="563334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ko-KR" altLang="en-US"/>
                  <a:t>따라서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임</m:t>
                    </m:r>
                  </m:oMath>
                </a14:m>
                <a:r>
                  <a:rPr lang="ko-KR" altLang="en-US"/>
                  <a:t>을</a:t>
                </a:r>
                <a:r>
                  <a:rPr lang="en-US" altLang="ko-KR"/>
                  <a:t> </a:t>
                </a:r>
                <a:r>
                  <a:rPr lang="ko-KR" altLang="en-US"/>
                  <a:t>이용하면</a:t>
                </a:r>
                <a:endParaRPr lang="en-US" altLang="ko-KR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acc>
                            <m:accPr>
                              <m:chr m:val="̃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𝑖𝑘𝑥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𝑑𝑘</m:t>
                          </m:r>
                        </m:e>
                      </m:nary>
                    </m:oMath>
                  </m:oMathPara>
                </a14:m>
                <a:endParaRPr lang="en-US" altLang="ko-KR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𝑖𝑘𝑥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𝑑𝑘</m:t>
                          </m:r>
                        </m:e>
                      </m:nary>
                    </m:oMath>
                  </m:oMathPara>
                </a14:m>
                <a:endParaRPr lang="en-US" altLang="ko-KR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d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𝑖𝑘𝑥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𝑑𝑘</m:t>
                          </m:r>
                        </m:e>
                      </m:nary>
                    </m:oMath>
                  </m:oMathPara>
                </a14:m>
                <a:endParaRPr lang="en-US" altLang="ko-KR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𝑖𝑘𝑥</m:t>
                        </m:r>
                      </m:sup>
                    </m:sSup>
                  </m:oMath>
                </a14:m>
                <a:r>
                  <a:rPr lang="ko-KR" altLang="en-US"/>
                  <a:t>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ko-KR" altLang="en-US"/>
                  <a:t>의 고윳벡터이므로 </a:t>
                </a:r>
                <a:endParaRPr lang="en-US" altLang="ko-KR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𝑖𝑘𝑥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func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−1 )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𝑖𝑘𝑥</m:t>
                        </m:r>
                      </m:sup>
                    </m:sSup>
                  </m:oMath>
                </a14:m>
                <a:r>
                  <a:rPr lang="en-US" altLang="ko-KR" b="0"/>
                  <a:t> </a:t>
                </a:r>
                <a:r>
                  <a:rPr lang="ko-KR" altLang="en-US"/>
                  <a:t>이다</a:t>
                </a:r>
                <a:r>
                  <a:rPr lang="en-US" altLang="ko-KR"/>
                  <a:t>.</a:t>
                </a:r>
                <a:r>
                  <a:rPr lang="ko-KR" altLang="en-US"/>
                  <a:t> </a:t>
                </a:r>
                <a:endParaRPr lang="en-US" altLang="ko-KR" b="0"/>
              </a:p>
              <a:p>
                <a:pPr marL="0" indent="0">
                  <a:buNone/>
                </a:pPr>
                <a:endParaRPr lang="ko-KR" altLang="en-US"/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33C86E9B-8D52-BD02-35E5-5F1780D072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28146"/>
                <a:ext cx="10515600" cy="5633348"/>
              </a:xfrm>
              <a:blipFill>
                <a:blip r:embed="rId2"/>
                <a:stretch>
                  <a:fillRect l="-1217" t="-16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4089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69F64-41C4-B762-BEDC-221BA21C1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70EAC484-2F71-0553-578B-4BB4D664E3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28146"/>
                <a:ext cx="10515600" cy="563334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ko-KR" altLang="en-US" b="0"/>
                  <a:t>결론적으로</a:t>
                </a:r>
                <a:endParaRPr lang="en-US" altLang="ko-KR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func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𝑖𝑘𝑥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𝑑𝑘</m:t>
                          </m:r>
                        </m:e>
                      </m:nary>
                    </m:oMath>
                  </m:oMathPara>
                </a14:m>
                <a:endParaRPr lang="en-US" altLang="ko-KR" b="0"/>
              </a:p>
              <a:p>
                <a:pPr marL="0" indent="0">
                  <a:buNone/>
                </a:pPr>
                <a:r>
                  <a:rPr lang="ko-KR" altLang="en-US"/>
                  <a:t>이고</a:t>
                </a:r>
                <a:r>
                  <a:rPr lang="en-US" altLang="ko-KR"/>
                  <a:t>, </a:t>
                </a:r>
              </a:p>
              <a:p>
                <a:pPr marL="0" indent="0">
                  <a:buNone/>
                </a:pPr>
                <a:r>
                  <a:rPr lang="ko-KR" altLang="en-US" b="0"/>
                  <a:t>시간이 지날수록 </a:t>
                </a:r>
                <a:r>
                  <a:rPr lang="en-US" altLang="ko-KR" b="0"/>
                  <a:t>x</a:t>
                </a:r>
                <a:r>
                  <a:rPr lang="ko-KR" altLang="en-US" b="0"/>
                  <a:t>에 대한 확률분포는 고르게 퍼진다는 점을 감안하면 </a:t>
                </a:r>
                <a:r>
                  <a:rPr lang="ko-KR" altLang="en-US"/>
                  <a:t>푸리에 변환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func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ko-KR" altLang="en-US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ko-KR" altLang="en-US"/>
                  <a:t>가 작은 값들에 대해서만 크기를 가질 것이다</a:t>
                </a:r>
                <a:r>
                  <a:rPr lang="en-US" altLang="ko-KR"/>
                  <a:t>.</a:t>
                </a:r>
                <a:r>
                  <a:rPr lang="ko-KR" altLang="en-US"/>
                  <a:t> 따라서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fun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ko-KR" altLang="en-US"/>
                  <a:t>로 근사하면</a:t>
                </a:r>
                <a:r>
                  <a:rPr lang="en-US" altLang="ko-KR"/>
                  <a:t>,</a:t>
                </a:r>
              </a:p>
              <a:p>
                <a:pPr marL="0" indent="0">
                  <a:buNone/>
                </a:pPr>
                <a:endParaRPr lang="en-US" altLang="ko-KR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sSup>
                                    <m:sSupPr>
                                      <m:ctrl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𝑖𝑘𝑥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𝑑𝑘</m:t>
                          </m:r>
                        </m:e>
                      </m:nary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altLang="ko-KR" b="0"/>
              </a:p>
              <a:p>
                <a:pPr marL="0" indent="0">
                  <a:buNone/>
                </a:pPr>
                <a:r>
                  <a:rPr lang="ko-KR" altLang="en-US" b="0"/>
                  <a:t>따라서 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에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대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해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서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ko-KR" altLang="en-US" b="0"/>
                  <a:t>는 정규 분포를 따른다</a:t>
                </a:r>
                <a:r>
                  <a:rPr lang="en-US" altLang="ko-KR" b="0"/>
                  <a:t>.</a:t>
                </a:r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70EAC484-2F71-0553-578B-4BB4D664E3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28146"/>
                <a:ext cx="10515600" cy="5633348"/>
              </a:xfrm>
              <a:blipFill>
                <a:blip r:embed="rId2"/>
                <a:stretch>
                  <a:fillRect l="-1217" t="-1840" r="-6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2202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C4F6255-1438-6B9B-93E5-AA959F8DA5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00332"/>
                <a:ext cx="10515600" cy="5676631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sup>
                    </m:sSup>
                  </m:oMath>
                </a14:m>
                <a:r>
                  <a:rPr lang="ko-KR" altLang="en-US"/>
                  <a:t>의 표준편차는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</m:oMath>
                </a14:m>
                <a:r>
                  <a:rPr lang="ko-KR" altLang="en-US"/>
                  <a:t>이다</a:t>
                </a:r>
                <a:r>
                  <a:rPr lang="en-US" altLang="ko-KR"/>
                  <a:t>. </a:t>
                </a:r>
                <a:r>
                  <a:rPr lang="ko-KR" altLang="en-US"/>
                  <a:t>만약 원점에서 출발해서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/>
                  <a:t>초 도안 랜덤워크를 수행하면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</m:oMath>
                </a14:m>
                <a:r>
                  <a:rPr lang="ko-KR" altLang="en-US"/>
                  <a:t> 내의 범위는 어느정도 </a:t>
                </a:r>
                <a:r>
                  <a:rPr lang="en-US" altLang="ko-KR"/>
                  <a:t>“</a:t>
                </a:r>
                <a:r>
                  <a:rPr lang="ko-KR" altLang="en-US"/>
                  <a:t>고른</a:t>
                </a:r>
                <a:r>
                  <a:rPr lang="en-US" altLang="ko-KR"/>
                  <a:t>” </a:t>
                </a:r>
                <a:r>
                  <a:rPr lang="ko-KR" altLang="en-US"/>
                  <a:t>분포를 기대할 수 있을 것이다</a:t>
                </a:r>
                <a:r>
                  <a:rPr lang="en-US" altLang="ko-KR"/>
                  <a:t>.</a:t>
                </a:r>
              </a:p>
              <a:p>
                <a:r>
                  <a:rPr lang="ko-KR" altLang="en-US"/>
                  <a:t>즉</a:t>
                </a:r>
                <a:r>
                  <a:rPr lang="en-US" altLang="ko-KR"/>
                  <a:t>, </a:t>
                </a:r>
                <a:r>
                  <a:rPr lang="ko-KR" altLang="en-US"/>
                  <a:t>라인그래프의 형태의 마르코프 체인에서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/>
                  <a:t>개의 상태들에 대해 고른 분포를 얻기 위해 필요한 시간은 약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ko-KR" altLang="en-US"/>
                  <a:t>이다</a:t>
                </a:r>
                <a:r>
                  <a:rPr lang="en-US" altLang="ko-KR"/>
                  <a:t>.</a:t>
                </a:r>
              </a:p>
              <a:p>
                <a:endParaRPr lang="en-US" altLang="ko-KR"/>
              </a:p>
              <a:p>
                <a:pPr marL="0" indent="0">
                  <a:buNone/>
                </a:pPr>
                <a:endParaRPr lang="en-US" altLang="ko-KR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C4F6255-1438-6B9B-93E5-AA959F8DA5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00332"/>
                <a:ext cx="10515600" cy="5676631"/>
              </a:xfrm>
              <a:blipFill>
                <a:blip r:embed="rId2"/>
                <a:stretch>
                  <a:fillRect l="-1043" r="-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3634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3991B3-6C35-C2C4-FEF4-67BFB9BDC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양자 랜덤 워크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A46C95B-C2BF-4B1B-22BE-6809CE165A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/>
                  <a:t>양자 랜덤 워크를 이용하면 이 마르코프 체인의 수행 시간을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에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서</m:t>
                    </m:r>
                  </m:oMath>
                </a14:m>
                <a:r>
                  <a:rPr lang="ko-KR" altLang="en-US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/>
                  <a:t>으로 줄일 수 있다</a:t>
                </a:r>
                <a:r>
                  <a:rPr lang="en-US" altLang="ko-KR"/>
                  <a:t>.</a:t>
                </a:r>
              </a:p>
              <a:p>
                <a:r>
                  <a:rPr lang="ko-KR" altLang="en-US"/>
                  <a:t>시간 부분 슈뢰딩거 방정식은</a:t>
                </a:r>
                <a:endParaRPr lang="en-US" altLang="ko-KR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𝑖𝐻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b="0"/>
              </a:p>
              <a:p>
                <a:pPr marL="0" indent="0">
                  <a:buNone/>
                </a:pPr>
                <a:r>
                  <a:rPr lang="ko-KR" altLang="en-US"/>
                  <a:t>이고 이 해는 </a:t>
                </a:r>
                <a:endParaRPr lang="en-US" altLang="ko-KR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𝑖𝐻𝑡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altLang="ko-KR"/>
              </a:p>
              <a:p>
                <a:pPr marL="0" indent="0">
                  <a:buNone/>
                </a:pPr>
                <a:r>
                  <a:rPr lang="ko-KR" altLang="en-US"/>
                  <a:t>해밀토니언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ko-KR" altLang="en-US"/>
                  <a:t>를 앞서 정의한 전이 행렬로 정의하자</a:t>
                </a:r>
                <a:r>
                  <a:rPr lang="en-US" altLang="ko-KR"/>
                  <a:t>.</a:t>
                </a:r>
              </a:p>
              <a:p>
                <a:pPr marL="0" indent="0">
                  <a:buNone/>
                </a:pPr>
                <a:endParaRPr lang="en-US" altLang="ko-KR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A46C95B-C2BF-4B1B-22BE-6809CE165A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2410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35BA5D0-9F6F-9547-3E38-3389850A22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14068"/>
                <a:ext cx="10515600" cy="5762895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𝑖𝐻𝑡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altLang="ko-KR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ko-KR" altLang="en-US"/>
                  <a:t>의 초기 상태가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일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때 </a:t>
                </a:r>
                <a:r>
                  <a:rPr lang="en-US" altLang="ko-KR"/>
                  <a:t>1, </a:t>
                </a:r>
                <a:r>
                  <a:rPr lang="ko-KR" altLang="en-US"/>
                  <a:t>나머지 </a:t>
                </a:r>
                <a:r>
                  <a:rPr lang="en-US" altLang="ko-KR"/>
                  <a:t>x</a:t>
                </a:r>
                <a:r>
                  <a:rPr lang="ko-KR" altLang="en-US"/>
                  <a:t>에서 </a:t>
                </a:r>
                <a:r>
                  <a:rPr lang="en-US" altLang="ko-KR"/>
                  <a:t>0</a:t>
                </a:r>
                <a:r>
                  <a:rPr lang="ko-KR" altLang="en-US"/>
                  <a:t>이라고 가정하면 푸리에 변환 결과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ko-KR" altLang="en-US"/>
                  <a:t>이다</a:t>
                </a:r>
                <a:r>
                  <a:rPr lang="en-US" altLang="ko-KR"/>
                  <a:t>.</a:t>
                </a:r>
              </a:p>
              <a:p>
                <a:pPr marL="0" indent="0">
                  <a:buNone/>
                </a:pPr>
                <a:endParaRPr lang="en-US" altLang="ko-KR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𝑖𝐻𝑡</m:t>
                          </m:r>
                        </m:sup>
                      </m:sSup>
                      <m:d>
                        <m:dPr>
                          <m:begChr m:val="|"/>
                          <m:endChr m:val="⟩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𝑖𝐻𝑡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𝑖𝑘𝑥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𝑑𝑘</m:t>
                          </m:r>
                        </m:e>
                      </m:nary>
                    </m:oMath>
                  </m:oMathPara>
                </a14:m>
                <a:endParaRPr lang="en-US" altLang="ko-KR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  <m:func>
                                <m:func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func>
                            </m:sup>
                          </m:sSup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𝑖𝑘𝑥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𝑑𝑘</m:t>
                          </m:r>
                        </m:e>
                      </m:nary>
                    </m:oMath>
                  </m:oMathPara>
                </a14:m>
                <a:endParaRPr lang="en-US" altLang="ko-KR"/>
              </a:p>
              <a:p>
                <a:pPr marL="0" indent="0">
                  <a:buNone/>
                </a:pPr>
                <a:endParaRPr lang="en-US" altLang="ko-KR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0" smtClean="0">
                                      <a:latin typeface="Cambria Math" panose="02040503050406030204" pitchFamily="18" charset="0"/>
                                    </a:rPr>
                                    <m:t>Ψ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US" altLang="ko-KR"/>
              </a:p>
              <a:p>
                <a:pPr marL="0" indent="0">
                  <a:buNone/>
                </a:pPr>
                <a:r>
                  <a:rPr lang="ko-KR" altLang="en-US"/>
                  <a:t>확률 분포가 </a:t>
                </a:r>
                <a:r>
                  <a:rPr lang="en-US" altLang="ko-KR"/>
                  <a:t>½ </a:t>
                </a:r>
                <a:r>
                  <a:rPr lang="ko-KR" altLang="en-US"/>
                  <a:t>이 되는 지점은 </a:t>
                </a:r>
                <a:r>
                  <a:rPr lang="en-US" altLang="ko-KR"/>
                  <a:t>4t=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/>
                  <a:t>이므로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/>
                  <a:t>개의 확률분포를 고르게 만드는 데 필요한 시간은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/>
                  <a:t>이다</a:t>
                </a:r>
                <a:r>
                  <a:rPr lang="en-US" altLang="ko-KR"/>
                  <a:t>.</a:t>
                </a:r>
                <a:endParaRPr lang="ko-KR" altLang="en-US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35BA5D0-9F6F-9547-3E38-3389850A22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14068"/>
                <a:ext cx="10515600" cy="5762895"/>
              </a:xfrm>
              <a:blipFill>
                <a:blip r:embed="rId2"/>
                <a:stretch>
                  <a:fillRect l="-1217" r="-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9087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D85B63-718D-8DD1-FB75-8BE13555F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61403"/>
            <a:ext cx="10515600" cy="3715559"/>
          </a:xfrm>
        </p:spPr>
        <p:txBody>
          <a:bodyPr/>
          <a:lstStyle/>
          <a:p>
            <a:r>
              <a:rPr lang="ko-KR" altLang="en-US"/>
              <a:t>고전적 방법보다 양자적 방법을 이용하여 라인그래프에서 샘플링에 필요한 시간을 </a:t>
            </a:r>
            <a:r>
              <a:rPr lang="en-US" altLang="ko-KR"/>
              <a:t>½ </a:t>
            </a:r>
            <a:r>
              <a:rPr lang="ko-KR" altLang="en-US"/>
              <a:t>승 만큼 단축시킬 수 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340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55393C-8EC5-337F-04AE-A2A8142C5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게임 탐색 알고리즘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92110E-79F5-4839-5F08-7E754A872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2</a:t>
            </a:r>
            <a:r>
              <a:rPr lang="ko-KR" altLang="en-US"/>
              <a:t>인용 턴제 게임</a:t>
            </a:r>
            <a:r>
              <a:rPr lang="en-US" altLang="ko-KR"/>
              <a:t>(</a:t>
            </a:r>
            <a:r>
              <a:rPr lang="ko-KR" altLang="en-US"/>
              <a:t>예 </a:t>
            </a:r>
            <a:r>
              <a:rPr lang="en-US" altLang="ko-KR"/>
              <a:t>: </a:t>
            </a:r>
            <a:r>
              <a:rPr lang="ko-KR" altLang="en-US"/>
              <a:t>틱택토</a:t>
            </a:r>
            <a:r>
              <a:rPr lang="en-US" altLang="ko-KR"/>
              <a:t>, </a:t>
            </a:r>
            <a:r>
              <a:rPr lang="ko-KR" altLang="en-US"/>
              <a:t>오목</a:t>
            </a:r>
            <a:r>
              <a:rPr lang="en-US" altLang="ko-KR"/>
              <a:t>, </a:t>
            </a:r>
            <a:r>
              <a:rPr lang="ko-KR" altLang="en-US"/>
              <a:t>체스 등</a:t>
            </a:r>
            <a:r>
              <a:rPr lang="en-US" altLang="ko-KR"/>
              <a:t>)</a:t>
            </a:r>
            <a:r>
              <a:rPr lang="ko-KR" altLang="en-US"/>
              <a:t>은 보통 게임 트리로 표현된다</a:t>
            </a:r>
            <a:r>
              <a:rPr lang="en-US" altLang="ko-KR"/>
              <a:t>.</a:t>
            </a:r>
          </a:p>
          <a:p>
            <a:r>
              <a:rPr lang="ko-KR" altLang="en-US"/>
              <a:t>게임 트리의 노트는 현재 상태</a:t>
            </a:r>
            <a:r>
              <a:rPr lang="en-US" altLang="ko-KR"/>
              <a:t>, </a:t>
            </a:r>
            <a:r>
              <a:rPr lang="ko-KR" altLang="en-US"/>
              <a:t>간선은 가능한 수</a:t>
            </a:r>
            <a:r>
              <a:rPr lang="en-US" altLang="ko-KR"/>
              <a:t>, </a:t>
            </a:r>
            <a:r>
              <a:rPr lang="ko-KR" altLang="en-US"/>
              <a:t>리프 노드는 더 이상 취할 수 있는 수가 없는 필패 상태를 의미한다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2367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01E24-E2A2-633F-FEED-68995716D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1061C1-E540-3764-C658-57087EEDF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필승</a:t>
            </a:r>
            <a:r>
              <a:rPr lang="en-US" altLang="ko-KR"/>
              <a:t>, </a:t>
            </a:r>
            <a:r>
              <a:rPr lang="ko-KR" altLang="en-US"/>
              <a:t>필패 평가 </a:t>
            </a:r>
            <a:r>
              <a:rPr lang="en-US" altLang="ko-KR"/>
              <a:t>= NAND </a:t>
            </a:r>
            <a:r>
              <a:rPr lang="ko-KR" altLang="en-US"/>
              <a:t>트리 평가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E81F0E-4F82-9789-DB2E-3B068B9B1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20728" cy="4351338"/>
          </a:xfrm>
        </p:spPr>
        <p:txBody>
          <a:bodyPr/>
          <a:lstStyle/>
          <a:p>
            <a:r>
              <a:rPr lang="ko-KR" altLang="en-US"/>
              <a:t>내가 처해 있는 상태에서 필승 전략이 있다는 것은</a:t>
            </a:r>
            <a:r>
              <a:rPr lang="en-US" altLang="ko-KR"/>
              <a:t>, </a:t>
            </a:r>
            <a:r>
              <a:rPr lang="ko-KR" altLang="en-US"/>
              <a:t>그 자식 노드들 중 필승 전략이 없다는 것을 의미한다</a:t>
            </a:r>
            <a:r>
              <a:rPr lang="en-US" altLang="ko-KR"/>
              <a:t>. </a:t>
            </a:r>
            <a:r>
              <a:rPr lang="ko-KR" altLang="en-US"/>
              <a:t>그래야 그 노드로 가는 수를 취해서 상대방을 지게 만들 수 있기 때문이다</a:t>
            </a:r>
            <a:r>
              <a:rPr lang="en-US" altLang="ko-KR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270F66D-25A0-52A0-BD37-478FB54BF4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99"/>
          <a:stretch>
            <a:fillRect/>
          </a:stretch>
        </p:blipFill>
        <p:spPr>
          <a:xfrm>
            <a:off x="5877463" y="1969399"/>
            <a:ext cx="5774274" cy="3939846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BAA0B9E9-C851-995F-8468-77DA1CCE406E}"/>
              </a:ext>
            </a:extLst>
          </p:cNvPr>
          <p:cNvSpPr/>
          <p:nvPr/>
        </p:nvSpPr>
        <p:spPr>
          <a:xfrm>
            <a:off x="8603411" y="1742536"/>
            <a:ext cx="902898" cy="90289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399913-B26B-B806-9F69-C36F2BDD59C6}"/>
              </a:ext>
            </a:extLst>
          </p:cNvPr>
          <p:cNvSpPr txBox="1"/>
          <p:nvPr/>
        </p:nvSpPr>
        <p:spPr>
          <a:xfrm>
            <a:off x="9195758" y="1552755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/>
              <a:t>내 상태</a:t>
            </a:r>
          </a:p>
        </p:txBody>
      </p:sp>
      <p:sp>
        <p:nvSpPr>
          <p:cNvPr id="9" name="오른쪽 중괄호 8">
            <a:extLst>
              <a:ext uri="{FF2B5EF4-FFF2-40B4-BE49-F238E27FC236}">
                <a16:creationId xmlns:a16="http://schemas.microsoft.com/office/drawing/2014/main" id="{4C779B81-C0C8-20C6-4FCC-F1C7576202AB}"/>
              </a:ext>
            </a:extLst>
          </p:cNvPr>
          <p:cNvSpPr/>
          <p:nvPr/>
        </p:nvSpPr>
        <p:spPr>
          <a:xfrm rot="5400000">
            <a:off x="8440191" y="1100551"/>
            <a:ext cx="672898" cy="5154322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2094CE-DB87-721D-0F0E-0F8A67ABB990}"/>
              </a:ext>
            </a:extLst>
          </p:cNvPr>
          <p:cNvSpPr txBox="1"/>
          <p:nvPr/>
        </p:nvSpPr>
        <p:spPr>
          <a:xfrm>
            <a:off x="8600883" y="4056358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FF0000"/>
                </a:solidFill>
              </a:rPr>
              <a:t>다음 상태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325FE5-B581-5135-116E-0CE8A2ADD6D1}"/>
              </a:ext>
            </a:extLst>
          </p:cNvPr>
          <p:cNvSpPr txBox="1"/>
          <p:nvPr/>
        </p:nvSpPr>
        <p:spPr>
          <a:xfrm>
            <a:off x="394729" y="4969564"/>
            <a:ext cx="5155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FF0000"/>
                </a:solidFill>
              </a:rPr>
              <a:t>다음 상태</a:t>
            </a:r>
            <a:r>
              <a:rPr lang="ko-KR" altLang="en-US"/>
              <a:t>들 중 하나가 필패 </a:t>
            </a:r>
            <a:r>
              <a:rPr lang="en-US" altLang="ko-KR"/>
              <a:t>= </a:t>
            </a:r>
            <a:r>
              <a:rPr lang="ko-KR" altLang="en-US" b="1"/>
              <a:t>현재 상태</a:t>
            </a:r>
            <a:r>
              <a:rPr lang="ko-KR" altLang="en-US"/>
              <a:t>가 필승</a:t>
            </a:r>
            <a:endParaRPr lang="en-US" altLang="ko-KR"/>
          </a:p>
          <a:p>
            <a:r>
              <a:rPr lang="ko-KR" altLang="en-US" b="1">
                <a:solidFill>
                  <a:srgbClr val="FF0000"/>
                </a:solidFill>
              </a:rPr>
              <a:t>다음 상태</a:t>
            </a:r>
            <a:r>
              <a:rPr lang="ko-KR" altLang="en-US"/>
              <a:t>들 모두 필승 </a:t>
            </a:r>
            <a:r>
              <a:rPr lang="en-US" altLang="ko-KR"/>
              <a:t>= </a:t>
            </a:r>
            <a:r>
              <a:rPr lang="ko-KR" altLang="en-US" b="1"/>
              <a:t>현재 상태 </a:t>
            </a:r>
            <a:r>
              <a:rPr lang="ko-KR" altLang="en-US"/>
              <a:t>필패</a:t>
            </a:r>
          </a:p>
        </p:txBody>
      </p:sp>
    </p:spTree>
    <p:extLst>
      <p:ext uri="{BB962C8B-B14F-4D97-AF65-F5344CB8AC3E}">
        <p14:creationId xmlns:p14="http://schemas.microsoft.com/office/powerpoint/2010/main" val="3491462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FA5677-3FC0-FEDD-8633-3BC30E86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루프가 첨가된 라인 그래프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031C0F-64C8-A02B-DE25-E0D198A6A1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697857"/>
                <a:ext cx="10515600" cy="2479106"/>
              </a:xfrm>
            </p:spPr>
            <p:txBody>
              <a:bodyPr/>
              <a:lstStyle/>
              <a:p>
                <a:r>
                  <a:rPr lang="ko-KR" altLang="en-US"/>
                  <a:t>위와같이 </a:t>
                </a:r>
                <a:r>
                  <a:rPr lang="en-US" altLang="ko-KR"/>
                  <a:t>x=0</a:t>
                </a:r>
                <a:r>
                  <a:rPr lang="ko-KR" altLang="en-US"/>
                  <a:t>에 가중치가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/>
                  <a:t>인 루프를 하나 포함시켜보자</a:t>
                </a:r>
                <a:r>
                  <a:rPr lang="en-US" altLang="ko-KR"/>
                  <a:t>. </a:t>
                </a:r>
                <a:r>
                  <a:rPr lang="ko-KR" altLang="en-US"/>
                  <a:t>그러면 전이 행렬은 다음과 같이 변한다</a:t>
                </a:r>
                <a:r>
                  <a:rPr lang="en-US" altLang="ko-KR"/>
                  <a:t>.</a:t>
                </a:r>
                <a:endParaRPr lang="ko-KR" altLang="en-US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031C0F-64C8-A02B-DE25-E0D198A6A1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697857"/>
                <a:ext cx="10515600" cy="2479106"/>
              </a:xfrm>
              <a:blipFill>
                <a:blip r:embed="rId2"/>
                <a:stretch>
                  <a:fillRect l="-1043" t="-44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타원 3">
            <a:extLst>
              <a:ext uri="{FF2B5EF4-FFF2-40B4-BE49-F238E27FC236}">
                <a16:creationId xmlns:a16="http://schemas.microsoft.com/office/drawing/2014/main" id="{8A691307-D789-1B1D-42E3-E60762499929}"/>
              </a:ext>
            </a:extLst>
          </p:cNvPr>
          <p:cNvSpPr/>
          <p:nvPr/>
        </p:nvSpPr>
        <p:spPr>
          <a:xfrm>
            <a:off x="5725042" y="2524620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C2542EC1-B3FE-0E04-A682-05ADE37E83CA}"/>
              </a:ext>
            </a:extLst>
          </p:cNvPr>
          <p:cNvSpPr/>
          <p:nvPr/>
        </p:nvSpPr>
        <p:spPr>
          <a:xfrm>
            <a:off x="4288755" y="2524620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5C25600-A43D-C56E-27D6-0B2527AB626D}"/>
              </a:ext>
            </a:extLst>
          </p:cNvPr>
          <p:cNvSpPr/>
          <p:nvPr/>
        </p:nvSpPr>
        <p:spPr>
          <a:xfrm>
            <a:off x="2852468" y="2524620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A666B3A-C2A9-0EA1-262E-416D48C776D4}"/>
              </a:ext>
            </a:extLst>
          </p:cNvPr>
          <p:cNvSpPr/>
          <p:nvPr/>
        </p:nvSpPr>
        <p:spPr>
          <a:xfrm>
            <a:off x="7161329" y="2524620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14C3D91-9B6F-5641-8594-008F38261FAB}"/>
              </a:ext>
            </a:extLst>
          </p:cNvPr>
          <p:cNvSpPr/>
          <p:nvPr/>
        </p:nvSpPr>
        <p:spPr>
          <a:xfrm>
            <a:off x="8597616" y="2524620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23054C3-8E1E-B8A9-4742-7B0B857E0B1A}"/>
              </a:ext>
            </a:extLst>
          </p:cNvPr>
          <p:cNvCxnSpPr>
            <a:cxnSpLocks/>
            <a:stCxn id="6" idx="6"/>
            <a:endCxn id="5" idx="2"/>
          </p:cNvCxnSpPr>
          <p:nvPr/>
        </p:nvCxnSpPr>
        <p:spPr>
          <a:xfrm>
            <a:off x="3444859" y="2820816"/>
            <a:ext cx="843896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23FC09E-BDED-9F40-9248-5821754FBDE1}"/>
              </a:ext>
            </a:extLst>
          </p:cNvPr>
          <p:cNvCxnSpPr>
            <a:cxnSpLocks/>
          </p:cNvCxnSpPr>
          <p:nvPr/>
        </p:nvCxnSpPr>
        <p:spPr>
          <a:xfrm>
            <a:off x="4881146" y="2820816"/>
            <a:ext cx="843896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828DFFA-5F34-68E4-0036-87B5C39A16B8}"/>
              </a:ext>
            </a:extLst>
          </p:cNvPr>
          <p:cNvCxnSpPr>
            <a:cxnSpLocks/>
          </p:cNvCxnSpPr>
          <p:nvPr/>
        </p:nvCxnSpPr>
        <p:spPr>
          <a:xfrm>
            <a:off x="6317433" y="2820816"/>
            <a:ext cx="843896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078FE75-ADE7-38ED-92E9-C4DD5F100516}"/>
              </a:ext>
            </a:extLst>
          </p:cNvPr>
          <p:cNvCxnSpPr>
            <a:cxnSpLocks/>
          </p:cNvCxnSpPr>
          <p:nvPr/>
        </p:nvCxnSpPr>
        <p:spPr>
          <a:xfrm>
            <a:off x="7753720" y="2820816"/>
            <a:ext cx="843896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6BD282C0-62A8-57D0-275B-FAE0BF2682C5}"/>
              </a:ext>
            </a:extLst>
          </p:cNvPr>
          <p:cNvSpPr/>
          <p:nvPr/>
        </p:nvSpPr>
        <p:spPr>
          <a:xfrm>
            <a:off x="5757000" y="1548215"/>
            <a:ext cx="631111" cy="1045460"/>
          </a:xfrm>
          <a:custGeom>
            <a:avLst/>
            <a:gdLst>
              <a:gd name="connsiteX0" fmla="*/ 97460 w 631111"/>
              <a:gd name="connsiteY0" fmla="*/ 1045460 h 1045460"/>
              <a:gd name="connsiteX1" fmla="*/ 39951 w 631111"/>
              <a:gd name="connsiteY1" fmla="*/ 108057 h 1045460"/>
              <a:gd name="connsiteX2" fmla="*/ 620796 w 631111"/>
              <a:gd name="connsiteY2" fmla="*/ 113808 h 1045460"/>
              <a:gd name="connsiteX3" fmla="*/ 356253 w 631111"/>
              <a:gd name="connsiteY3" fmla="*/ 947694 h 1045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111" h="1045460">
                <a:moveTo>
                  <a:pt x="97460" y="1045460"/>
                </a:moveTo>
                <a:cubicBezTo>
                  <a:pt x="25094" y="654396"/>
                  <a:pt x="-47272" y="263332"/>
                  <a:pt x="39951" y="108057"/>
                </a:cubicBezTo>
                <a:cubicBezTo>
                  <a:pt x="127174" y="-47218"/>
                  <a:pt x="568079" y="-26131"/>
                  <a:pt x="620796" y="113808"/>
                </a:cubicBezTo>
                <a:cubicBezTo>
                  <a:pt x="673513" y="253747"/>
                  <a:pt x="514883" y="600720"/>
                  <a:pt x="356253" y="947694"/>
                </a:cubicBezTo>
              </a:path>
            </a:pathLst>
          </a:cu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3F08B15-6FF1-1A5F-6FBA-109E9F1B5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880" y="4667692"/>
            <a:ext cx="3446240" cy="199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196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B6C05A5-631A-95DA-BEC8-2C9B183BD8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29087"/>
                <a:ext cx="10515600" cy="5647876"/>
              </a:xfrm>
            </p:spPr>
            <p:txBody>
              <a:bodyPr/>
              <a:lstStyle/>
              <a:p>
                <a:r>
                  <a:rPr lang="ko-KR" altLang="en-US"/>
                  <a:t>이 경우의 고유 벡터를 구해보자</a:t>
                </a:r>
                <a:r>
                  <a:rPr lang="en-US" altLang="ko-KR"/>
                  <a:t>. </a:t>
                </a:r>
                <a:r>
                  <a:rPr lang="ko-KR" altLang="en-US"/>
                  <a:t>루프가 없는 경우의 고유벡터는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𝑖𝑘𝑥</m:t>
                        </m:r>
                      </m:sup>
                    </m:sSup>
                  </m:oMath>
                </a14:m>
                <a:r>
                  <a:rPr lang="en-US" altLang="ko-KR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𝑖𝑘𝑥</m:t>
                        </m:r>
                      </m:sup>
                    </m:sSup>
                  </m:oMath>
                </a14:m>
                <a:r>
                  <a:rPr lang="ko-KR" altLang="en-US"/>
                  <a:t>였는데 </a:t>
                </a:r>
                <a:r>
                  <a:rPr lang="en-US" altLang="ko-KR"/>
                  <a:t>ansatz</a:t>
                </a:r>
                <a:r>
                  <a:rPr lang="ko-KR" altLang="en-US"/>
                  <a:t>로써 다음과 같은 기저를 가정할 수 있다</a:t>
                </a:r>
                <a:r>
                  <a:rPr lang="en-US" altLang="ko-KR"/>
                  <a:t>. (</a:t>
                </a:r>
                <a:r>
                  <a:rPr lang="ko-KR" altLang="en-US"/>
                  <a:t>투과</a:t>
                </a:r>
                <a:r>
                  <a:rPr lang="en-US" altLang="ko-KR"/>
                  <a:t>, </a:t>
                </a:r>
                <a:r>
                  <a:rPr lang="ko-KR" altLang="en-US"/>
                  <a:t>반사 가정</a:t>
                </a:r>
                <a:r>
                  <a:rPr lang="en-US" altLang="ko-KR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𝑖𝑘𝑥</m:t>
                                  </m:r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𝑖𝑘𝑥</m:t>
                                  </m:r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&amp; </m:t>
                              </m:r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≤0</m:t>
                                  </m:r>
                                </m:e>
                              </m:d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𝑖𝑘𝑥</m:t>
                                  </m:r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≥0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altLang="ko-KR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𝐻𝑣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ko-KR" altLang="en-US" b="0"/>
                  <a:t>에 대입하면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m:rPr>
                            <m:lit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func>
                      </m:den>
                    </m:f>
                  </m:oMath>
                </a14:m>
                <a:r>
                  <a:rPr lang="ko-KR" altLang="en-US" b="0"/>
                  <a:t>임을 구할 수 있다</a:t>
                </a:r>
                <a:r>
                  <a:rPr lang="en-US" altLang="ko-KR" b="0"/>
                  <a:t>.</a:t>
                </a:r>
              </a:p>
              <a:p>
                <a:r>
                  <a:rPr lang="ko-KR" altLang="en-US"/>
                  <a:t>투</a:t>
                </a: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과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되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는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파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동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크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기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는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lit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func>
                      </m:den>
                    </m:f>
                  </m:oMath>
                </a14:m>
                <a:r>
                  <a:rPr lang="ko-KR" altLang="en-US" b="0"/>
                  <a:t>가 된다</a:t>
                </a:r>
                <a:r>
                  <a:rPr lang="en-US" altLang="ko-KR" b="0"/>
                  <a:t>.</a:t>
                </a:r>
              </a:p>
              <a:p>
                <a:endParaRPr lang="en-US" altLang="ko-KR" b="0"/>
              </a:p>
              <a:p>
                <a:endParaRPr lang="en-US" altLang="ko-KR" b="0"/>
              </a:p>
              <a:p>
                <a:endParaRPr lang="en-US" altLang="ko-KR" b="0"/>
              </a:p>
              <a:p>
                <a:endParaRPr lang="en-US" altLang="ko-KR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B6C05A5-631A-95DA-BEC8-2C9B183BD8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29087"/>
                <a:ext cx="10515600" cy="5647876"/>
              </a:xfrm>
              <a:blipFill>
                <a:blip r:embed="rId2"/>
                <a:stretch>
                  <a:fillRect l="-1043" t="-19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2419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30FACA-4E20-6DEA-4470-BB855B634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엣지 </a:t>
            </a:r>
            <a:r>
              <a:rPr lang="en-US" altLang="ko-KR"/>
              <a:t>+ </a:t>
            </a:r>
            <a:r>
              <a:rPr lang="ko-KR" altLang="en-US"/>
              <a:t>루프 첨가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8CC3D26-F94F-DCF4-B20E-366F95E75B7A}"/>
              </a:ext>
            </a:extLst>
          </p:cNvPr>
          <p:cNvSpPr/>
          <p:nvPr/>
        </p:nvSpPr>
        <p:spPr>
          <a:xfrm>
            <a:off x="7237540" y="2461359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88052CD-3EB6-9A69-1CA8-E198002CB954}"/>
              </a:ext>
            </a:extLst>
          </p:cNvPr>
          <p:cNvSpPr/>
          <p:nvPr/>
        </p:nvSpPr>
        <p:spPr>
          <a:xfrm>
            <a:off x="5801253" y="2461359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CA595C6-A1E7-BF16-3424-D49858EEDD1E}"/>
              </a:ext>
            </a:extLst>
          </p:cNvPr>
          <p:cNvSpPr/>
          <p:nvPr/>
        </p:nvSpPr>
        <p:spPr>
          <a:xfrm>
            <a:off x="4364966" y="2461359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090AFCD-670E-E49C-3439-D7942238CB04}"/>
              </a:ext>
            </a:extLst>
          </p:cNvPr>
          <p:cNvSpPr/>
          <p:nvPr/>
        </p:nvSpPr>
        <p:spPr>
          <a:xfrm>
            <a:off x="8673827" y="2461359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F1C9A40-D7B2-D996-5639-EE4AA809F912}"/>
              </a:ext>
            </a:extLst>
          </p:cNvPr>
          <p:cNvSpPr/>
          <p:nvPr/>
        </p:nvSpPr>
        <p:spPr>
          <a:xfrm>
            <a:off x="10110114" y="2461359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B68404A-F1D6-CC30-229F-FA662C9C12B0}"/>
              </a:ext>
            </a:extLst>
          </p:cNvPr>
          <p:cNvCxnSpPr>
            <a:cxnSpLocks/>
            <a:stCxn id="6" idx="6"/>
            <a:endCxn id="5" idx="2"/>
          </p:cNvCxnSpPr>
          <p:nvPr/>
        </p:nvCxnSpPr>
        <p:spPr>
          <a:xfrm>
            <a:off x="4957357" y="2757555"/>
            <a:ext cx="843896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FC2ADD3-C125-3847-FEA0-9B990FAB8799}"/>
              </a:ext>
            </a:extLst>
          </p:cNvPr>
          <p:cNvCxnSpPr>
            <a:cxnSpLocks/>
          </p:cNvCxnSpPr>
          <p:nvPr/>
        </p:nvCxnSpPr>
        <p:spPr>
          <a:xfrm>
            <a:off x="6393644" y="2757555"/>
            <a:ext cx="843896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D6A4EA3-AA9F-D4A6-5F18-B63AE48F97D4}"/>
              </a:ext>
            </a:extLst>
          </p:cNvPr>
          <p:cNvCxnSpPr>
            <a:cxnSpLocks/>
          </p:cNvCxnSpPr>
          <p:nvPr/>
        </p:nvCxnSpPr>
        <p:spPr>
          <a:xfrm>
            <a:off x="7829931" y="2757555"/>
            <a:ext cx="843896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AC8D131-AD2E-4D75-4F72-1E6E86B206CB}"/>
              </a:ext>
            </a:extLst>
          </p:cNvPr>
          <p:cNvCxnSpPr>
            <a:cxnSpLocks/>
          </p:cNvCxnSpPr>
          <p:nvPr/>
        </p:nvCxnSpPr>
        <p:spPr>
          <a:xfrm>
            <a:off x="9266218" y="2757555"/>
            <a:ext cx="843896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E49A78FF-21E5-2EA6-058E-AA47DA3BB268}"/>
              </a:ext>
            </a:extLst>
          </p:cNvPr>
          <p:cNvSpPr/>
          <p:nvPr/>
        </p:nvSpPr>
        <p:spPr>
          <a:xfrm>
            <a:off x="7269498" y="701615"/>
            <a:ext cx="631111" cy="724617"/>
          </a:xfrm>
          <a:custGeom>
            <a:avLst/>
            <a:gdLst>
              <a:gd name="connsiteX0" fmla="*/ 97460 w 631111"/>
              <a:gd name="connsiteY0" fmla="*/ 1045460 h 1045460"/>
              <a:gd name="connsiteX1" fmla="*/ 39951 w 631111"/>
              <a:gd name="connsiteY1" fmla="*/ 108057 h 1045460"/>
              <a:gd name="connsiteX2" fmla="*/ 620796 w 631111"/>
              <a:gd name="connsiteY2" fmla="*/ 113808 h 1045460"/>
              <a:gd name="connsiteX3" fmla="*/ 356253 w 631111"/>
              <a:gd name="connsiteY3" fmla="*/ 947694 h 1045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111" h="1045460">
                <a:moveTo>
                  <a:pt x="97460" y="1045460"/>
                </a:moveTo>
                <a:cubicBezTo>
                  <a:pt x="25094" y="654396"/>
                  <a:pt x="-47272" y="263332"/>
                  <a:pt x="39951" y="108057"/>
                </a:cubicBezTo>
                <a:cubicBezTo>
                  <a:pt x="127174" y="-47218"/>
                  <a:pt x="568079" y="-26131"/>
                  <a:pt x="620796" y="113808"/>
                </a:cubicBezTo>
                <a:cubicBezTo>
                  <a:pt x="673513" y="253747"/>
                  <a:pt x="514883" y="600720"/>
                  <a:pt x="356253" y="947694"/>
                </a:cubicBezTo>
              </a:path>
            </a:pathLst>
          </a:cu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AFBCE44-BA30-F53D-C3D0-C8CA1F94C385}"/>
              </a:ext>
            </a:extLst>
          </p:cNvPr>
          <p:cNvSpPr/>
          <p:nvPr/>
        </p:nvSpPr>
        <p:spPr>
          <a:xfrm>
            <a:off x="7237540" y="1351404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BF2F44F-1823-9415-9A98-DDE4CDF99A88}"/>
              </a:ext>
            </a:extLst>
          </p:cNvPr>
          <p:cNvCxnSpPr>
            <a:cxnSpLocks/>
            <a:stCxn id="4" idx="0"/>
            <a:endCxn id="14" idx="4"/>
          </p:cNvCxnSpPr>
          <p:nvPr/>
        </p:nvCxnSpPr>
        <p:spPr>
          <a:xfrm flipV="1">
            <a:off x="7533736" y="1943795"/>
            <a:ext cx="0" cy="517564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BAFF71E-62F2-D20D-FF26-A7935F38E71B}"/>
                  </a:ext>
                </a:extLst>
              </p:cNvPr>
              <p:cNvSpPr txBox="1"/>
              <p:nvPr/>
            </p:nvSpPr>
            <p:spPr>
              <a:xfrm>
                <a:off x="8031192" y="564458"/>
                <a:ext cx="319177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altLang="ko-KR" sz="2800" b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BAFF71E-62F2-D20D-FF26-A7935F38E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1192" y="564458"/>
                <a:ext cx="319177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CDBEED3-FE7E-050A-55A1-F7F128CD718A}"/>
                  </a:ext>
                </a:extLst>
              </p:cNvPr>
              <p:cNvSpPr txBox="1"/>
              <p:nvPr/>
            </p:nvSpPr>
            <p:spPr>
              <a:xfrm>
                <a:off x="7723516" y="1943795"/>
                <a:ext cx="654116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altLang="ko-KR" sz="2800" b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CDBEED3-FE7E-050A-55A1-F7F128CD7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516" y="1943795"/>
                <a:ext cx="654116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내용 개체 틀 2">
                <a:extLst>
                  <a:ext uri="{FF2B5EF4-FFF2-40B4-BE49-F238E27FC236}">
                    <a16:creationId xmlns:a16="http://schemas.microsoft.com/office/drawing/2014/main" id="{CBB5180E-2BB5-F174-9B94-5BB1A81FCF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428999"/>
                <a:ext cx="10515600" cy="2747963"/>
              </a:xfrm>
            </p:spPr>
            <p:txBody>
              <a:bodyPr>
                <a:normAutofit/>
              </a:bodyPr>
              <a:lstStyle/>
              <a:p>
                <a:r>
                  <a:rPr lang="ko-KR" altLang="en-US"/>
                  <a:t> 이 경우 전이 행렬은 새로운 정점 </a:t>
                </a:r>
                <a:r>
                  <a:rPr lang="en-US" altLang="ko-KR"/>
                  <a:t>u</a:t>
                </a:r>
                <a:r>
                  <a:rPr lang="ko-KR" altLang="en-US"/>
                  <a:t>에 대한 행</a:t>
                </a:r>
                <a:r>
                  <a:rPr lang="en-US" altLang="ko-KR"/>
                  <a:t>, </a:t>
                </a:r>
                <a:r>
                  <a:rPr lang="ko-KR" altLang="en-US"/>
                  <a:t>열이 추가되고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ko-KR" b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ko-KR" b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라</m:t>
                    </m:r>
                  </m:oMath>
                </a14:m>
                <a:r>
                  <a:rPr lang="ko-KR" altLang="en-US" b="0"/>
                  <a:t>는 조건이 추가된다</a:t>
                </a:r>
                <a:r>
                  <a:rPr lang="en-US" altLang="ko-KR" b="0"/>
                  <a:t>. </a:t>
                </a:r>
                <a:endParaRPr lang="en-US" altLang="ko-KR"/>
              </a:p>
              <a:p>
                <a:r>
                  <a:rPr lang="ko-KR" altLang="en-US" b="0"/>
                  <a:t>이때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𝐻𝑢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ko-KR" altLang="en-US" b="0"/>
                  <a:t>를 풀면</a:t>
                </a:r>
                <a:r>
                  <a:rPr lang="en-US" altLang="ko-KR" b="0"/>
                  <a:t>, </a:t>
                </a:r>
                <a:r>
                  <a:rPr lang="ko-KR" altLang="en-US" b="0"/>
                  <a:t>루프 한 개 첨가했을 때와 동일한 형태의</a:t>
                </a:r>
                <a:r>
                  <a:rPr lang="en-US" altLang="ko-KR" b="0"/>
                  <a:t> </a:t>
                </a:r>
                <a:endParaRPr lang="en-US" altLang="ko-KR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m:rPr>
                              <m:lit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func>
                        </m:den>
                      </m:f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lit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m:rPr>
                          <m:lit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b="0" i="1">
                  <a:latin typeface="Cambria Math" panose="02040503050406030204" pitchFamily="18" charset="0"/>
                </a:endParaRPr>
              </a:p>
              <a:p>
                <a:r>
                  <a:rPr lang="ko-KR" altLang="en-US">
                    <a:latin typeface="Cambria Math" panose="02040503050406030204" pitchFamily="18" charset="0"/>
                  </a:rPr>
                  <a:t>가 나온다</a:t>
                </a:r>
                <a:r>
                  <a:rPr lang="en-US" altLang="ko-KR">
                    <a:latin typeface="Cambria Math" panose="02040503050406030204" pitchFamily="18" charset="0"/>
                  </a:rPr>
                  <a:t>.</a:t>
                </a:r>
                <a:endParaRPr lang="en-US" altLang="ko-KR" b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ko-KR" b="0"/>
              </a:p>
              <a:p>
                <a:endParaRPr lang="en-US" altLang="ko-KR" b="0"/>
              </a:p>
              <a:p>
                <a:endParaRPr lang="en-US" altLang="ko-KR" b="0"/>
              </a:p>
              <a:p>
                <a:endParaRPr lang="ko-KR" altLang="en-US"/>
              </a:p>
            </p:txBody>
          </p:sp>
        </mc:Choice>
        <mc:Fallback>
          <p:sp>
            <p:nvSpPr>
              <p:cNvPr id="21" name="내용 개체 틀 2">
                <a:extLst>
                  <a:ext uri="{FF2B5EF4-FFF2-40B4-BE49-F238E27FC236}">
                    <a16:creationId xmlns:a16="http://schemas.microsoft.com/office/drawing/2014/main" id="{CBB5180E-2BB5-F174-9B94-5BB1A81FCF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428999"/>
                <a:ext cx="10515600" cy="2747963"/>
              </a:xfrm>
              <a:blipFill>
                <a:blip r:embed="rId4"/>
                <a:stretch>
                  <a:fillRect l="-1043" t="-3769" r="-232" b="-53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2855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784740-54B7-C7F9-2B7C-A32A537DD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185"/>
            <a:ext cx="10515600" cy="2001778"/>
          </a:xfrm>
        </p:spPr>
        <p:txBody>
          <a:bodyPr/>
          <a:lstStyle/>
          <a:p>
            <a:r>
              <a:rPr lang="ko-KR" altLang="en-US"/>
              <a:t>따라서 이렇게 환원 가능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49E186A-1BD5-25F1-9720-3AAE836FC196}"/>
              </a:ext>
            </a:extLst>
          </p:cNvPr>
          <p:cNvSpPr/>
          <p:nvPr/>
        </p:nvSpPr>
        <p:spPr>
          <a:xfrm>
            <a:off x="3522430" y="2444106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CC9C70A7-8A1C-E5DD-2787-89C9B4E20F52}"/>
              </a:ext>
            </a:extLst>
          </p:cNvPr>
          <p:cNvSpPr/>
          <p:nvPr/>
        </p:nvSpPr>
        <p:spPr>
          <a:xfrm>
            <a:off x="3554388" y="684362"/>
            <a:ext cx="631111" cy="724617"/>
          </a:xfrm>
          <a:custGeom>
            <a:avLst/>
            <a:gdLst>
              <a:gd name="connsiteX0" fmla="*/ 97460 w 631111"/>
              <a:gd name="connsiteY0" fmla="*/ 1045460 h 1045460"/>
              <a:gd name="connsiteX1" fmla="*/ 39951 w 631111"/>
              <a:gd name="connsiteY1" fmla="*/ 108057 h 1045460"/>
              <a:gd name="connsiteX2" fmla="*/ 620796 w 631111"/>
              <a:gd name="connsiteY2" fmla="*/ 113808 h 1045460"/>
              <a:gd name="connsiteX3" fmla="*/ 356253 w 631111"/>
              <a:gd name="connsiteY3" fmla="*/ 947694 h 1045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111" h="1045460">
                <a:moveTo>
                  <a:pt x="97460" y="1045460"/>
                </a:moveTo>
                <a:cubicBezTo>
                  <a:pt x="25094" y="654396"/>
                  <a:pt x="-47272" y="263332"/>
                  <a:pt x="39951" y="108057"/>
                </a:cubicBezTo>
                <a:cubicBezTo>
                  <a:pt x="127174" y="-47218"/>
                  <a:pt x="568079" y="-26131"/>
                  <a:pt x="620796" y="113808"/>
                </a:cubicBezTo>
                <a:cubicBezTo>
                  <a:pt x="673513" y="253747"/>
                  <a:pt x="514883" y="600720"/>
                  <a:pt x="356253" y="947694"/>
                </a:cubicBezTo>
              </a:path>
            </a:pathLst>
          </a:cu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869D7A1-659C-5042-A7B3-B3EEE95C9580}"/>
              </a:ext>
            </a:extLst>
          </p:cNvPr>
          <p:cNvSpPr/>
          <p:nvPr/>
        </p:nvSpPr>
        <p:spPr>
          <a:xfrm>
            <a:off x="3522430" y="1334151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A5E52F8-4414-2ECF-A365-0FC791B101EE}"/>
              </a:ext>
            </a:extLst>
          </p:cNvPr>
          <p:cNvCxnSpPr>
            <a:cxnSpLocks/>
            <a:stCxn id="4" idx="0"/>
            <a:endCxn id="6" idx="4"/>
          </p:cNvCxnSpPr>
          <p:nvPr/>
        </p:nvCxnSpPr>
        <p:spPr>
          <a:xfrm flipV="1">
            <a:off x="3818626" y="1926542"/>
            <a:ext cx="0" cy="517564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E586A9-63F3-13F5-712E-270CA6CF31D2}"/>
                  </a:ext>
                </a:extLst>
              </p:cNvPr>
              <p:cNvSpPr txBox="1"/>
              <p:nvPr/>
            </p:nvSpPr>
            <p:spPr>
              <a:xfrm>
                <a:off x="4316082" y="547205"/>
                <a:ext cx="319177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altLang="ko-KR" sz="2800" b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E586A9-63F3-13F5-712E-270CA6CF3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6082" y="547205"/>
                <a:ext cx="319177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7D8C09-7DE9-70A7-4B3E-9A75EB71E2AA}"/>
                  </a:ext>
                </a:extLst>
              </p:cNvPr>
              <p:cNvSpPr txBox="1"/>
              <p:nvPr/>
            </p:nvSpPr>
            <p:spPr>
              <a:xfrm>
                <a:off x="4008406" y="1926542"/>
                <a:ext cx="654116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altLang="ko-KR" sz="2800" b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7D8C09-7DE9-70A7-4B3E-9A75EB71E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8406" y="1926542"/>
                <a:ext cx="654116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D7EACDDC-4410-245B-551A-7B5B6474324A}"/>
              </a:ext>
            </a:extLst>
          </p:cNvPr>
          <p:cNvSpPr/>
          <p:nvPr/>
        </p:nvSpPr>
        <p:spPr>
          <a:xfrm>
            <a:off x="6969047" y="1736830"/>
            <a:ext cx="631111" cy="724617"/>
          </a:xfrm>
          <a:custGeom>
            <a:avLst/>
            <a:gdLst>
              <a:gd name="connsiteX0" fmla="*/ 97460 w 631111"/>
              <a:gd name="connsiteY0" fmla="*/ 1045460 h 1045460"/>
              <a:gd name="connsiteX1" fmla="*/ 39951 w 631111"/>
              <a:gd name="connsiteY1" fmla="*/ 108057 h 1045460"/>
              <a:gd name="connsiteX2" fmla="*/ 620796 w 631111"/>
              <a:gd name="connsiteY2" fmla="*/ 113808 h 1045460"/>
              <a:gd name="connsiteX3" fmla="*/ 356253 w 631111"/>
              <a:gd name="connsiteY3" fmla="*/ 947694 h 1045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111" h="1045460">
                <a:moveTo>
                  <a:pt x="97460" y="1045460"/>
                </a:moveTo>
                <a:cubicBezTo>
                  <a:pt x="25094" y="654396"/>
                  <a:pt x="-47272" y="263332"/>
                  <a:pt x="39951" y="108057"/>
                </a:cubicBezTo>
                <a:cubicBezTo>
                  <a:pt x="127174" y="-47218"/>
                  <a:pt x="568079" y="-26131"/>
                  <a:pt x="620796" y="113808"/>
                </a:cubicBezTo>
                <a:cubicBezTo>
                  <a:pt x="673513" y="253747"/>
                  <a:pt x="514883" y="600720"/>
                  <a:pt x="356253" y="947694"/>
                </a:cubicBezTo>
              </a:path>
            </a:pathLst>
          </a:cu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437EB08-5B5B-E169-6F6A-1202079890CD}"/>
              </a:ext>
            </a:extLst>
          </p:cNvPr>
          <p:cNvSpPr/>
          <p:nvPr/>
        </p:nvSpPr>
        <p:spPr>
          <a:xfrm>
            <a:off x="6937089" y="2386619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2B40D6-29DE-DED8-0A87-5966B9BAC248}"/>
                  </a:ext>
                </a:extLst>
              </p:cNvPr>
              <p:cNvSpPr txBox="1"/>
              <p:nvPr/>
            </p:nvSpPr>
            <p:spPr>
              <a:xfrm>
                <a:off x="7529480" y="992230"/>
                <a:ext cx="638355" cy="833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</m:oMath>
                  </m:oMathPara>
                </a14:m>
                <a:endParaRPr lang="ko-KR" altLang="en-US" sz="240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2B40D6-29DE-DED8-0A87-5966B9BAC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9480" y="992230"/>
                <a:ext cx="638355" cy="833498"/>
              </a:xfrm>
              <a:prstGeom prst="rect">
                <a:avLst/>
              </a:prstGeom>
              <a:blipFill>
                <a:blip r:embed="rId4"/>
                <a:stretch>
                  <a:fillRect r="-276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6005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0254A6-EFB2-992E-45B0-EA47C0FA2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브랜치 첨가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8ECD912-8770-C661-1C3B-020DCA0B99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002657"/>
                <a:ext cx="10515600" cy="2174306"/>
              </a:xfrm>
            </p:spPr>
            <p:txBody>
              <a:bodyPr/>
              <a:lstStyle/>
              <a:p>
                <a:r>
                  <a:rPr lang="ko-KR" altLang="en-US"/>
                  <a:t>위와 같이 두 개의 엣지를 첨가한 경우</a:t>
                </a:r>
                <a:endParaRPr lang="en-US" altLang="ko-KR"/>
              </a:p>
              <a:p>
                <a:pPr marL="0" indent="0">
                  <a:buNone/>
                </a:pPr>
                <a:endParaRPr lang="en-US" altLang="ko-KR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b="0"/>
              </a:p>
              <a:p>
                <a:pPr marL="0" indent="0">
                  <a:buNone/>
                </a:pPr>
                <a:endParaRPr lang="ko-KR" altLang="en-US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8ECD912-8770-C661-1C3B-020DCA0B99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002657"/>
                <a:ext cx="10515600" cy="2174306"/>
              </a:xfrm>
              <a:blipFill>
                <a:blip r:embed="rId2"/>
                <a:stretch>
                  <a:fillRect l="-1043" t="-50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타원 3">
            <a:extLst>
              <a:ext uri="{FF2B5EF4-FFF2-40B4-BE49-F238E27FC236}">
                <a16:creationId xmlns:a16="http://schemas.microsoft.com/office/drawing/2014/main" id="{72ED1020-2654-EAAB-710B-A25BC6BA2701}"/>
              </a:ext>
            </a:extLst>
          </p:cNvPr>
          <p:cNvSpPr/>
          <p:nvPr/>
        </p:nvSpPr>
        <p:spPr>
          <a:xfrm>
            <a:off x="7237540" y="2461359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9E84CA0-7001-E6FC-0795-234E63C561B3}"/>
              </a:ext>
            </a:extLst>
          </p:cNvPr>
          <p:cNvSpPr/>
          <p:nvPr/>
        </p:nvSpPr>
        <p:spPr>
          <a:xfrm>
            <a:off x="5801253" y="2461359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56F5DCD-B64F-EB23-FD9B-B1B4EFA7FBAE}"/>
              </a:ext>
            </a:extLst>
          </p:cNvPr>
          <p:cNvSpPr/>
          <p:nvPr/>
        </p:nvSpPr>
        <p:spPr>
          <a:xfrm>
            <a:off x="4364966" y="2461359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1D74C72-F5C3-3055-38B2-548D33A7CBBB}"/>
              </a:ext>
            </a:extLst>
          </p:cNvPr>
          <p:cNvSpPr/>
          <p:nvPr/>
        </p:nvSpPr>
        <p:spPr>
          <a:xfrm>
            <a:off x="8673827" y="2461359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5F39D78-A13A-202A-02BD-E027A0DA6871}"/>
              </a:ext>
            </a:extLst>
          </p:cNvPr>
          <p:cNvSpPr/>
          <p:nvPr/>
        </p:nvSpPr>
        <p:spPr>
          <a:xfrm>
            <a:off x="10110114" y="2461359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0E4CE47-18F9-2A7F-CF54-0A51B6B86397}"/>
              </a:ext>
            </a:extLst>
          </p:cNvPr>
          <p:cNvCxnSpPr>
            <a:cxnSpLocks/>
            <a:stCxn id="6" idx="6"/>
            <a:endCxn id="5" idx="2"/>
          </p:cNvCxnSpPr>
          <p:nvPr/>
        </p:nvCxnSpPr>
        <p:spPr>
          <a:xfrm>
            <a:off x="4957357" y="2757555"/>
            <a:ext cx="843896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6D5E93B-D13C-269B-8ECC-6A99741413B2}"/>
              </a:ext>
            </a:extLst>
          </p:cNvPr>
          <p:cNvCxnSpPr>
            <a:cxnSpLocks/>
          </p:cNvCxnSpPr>
          <p:nvPr/>
        </p:nvCxnSpPr>
        <p:spPr>
          <a:xfrm>
            <a:off x="6393644" y="2757555"/>
            <a:ext cx="843896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F905691-316E-C4C3-8540-7A9196E52366}"/>
              </a:ext>
            </a:extLst>
          </p:cNvPr>
          <p:cNvCxnSpPr>
            <a:cxnSpLocks/>
          </p:cNvCxnSpPr>
          <p:nvPr/>
        </p:nvCxnSpPr>
        <p:spPr>
          <a:xfrm>
            <a:off x="7829931" y="2757555"/>
            <a:ext cx="843896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6A46C85-61BD-BFAA-6C8A-8CC275DDCF62}"/>
              </a:ext>
            </a:extLst>
          </p:cNvPr>
          <p:cNvCxnSpPr>
            <a:cxnSpLocks/>
          </p:cNvCxnSpPr>
          <p:nvPr/>
        </p:nvCxnSpPr>
        <p:spPr>
          <a:xfrm>
            <a:off x="9266218" y="2757555"/>
            <a:ext cx="843896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D8B8FE95-4775-38DC-6F3F-2ED781542870}"/>
              </a:ext>
            </a:extLst>
          </p:cNvPr>
          <p:cNvSpPr/>
          <p:nvPr/>
        </p:nvSpPr>
        <p:spPr>
          <a:xfrm>
            <a:off x="6596638" y="718778"/>
            <a:ext cx="631111" cy="724617"/>
          </a:xfrm>
          <a:custGeom>
            <a:avLst/>
            <a:gdLst>
              <a:gd name="connsiteX0" fmla="*/ 97460 w 631111"/>
              <a:gd name="connsiteY0" fmla="*/ 1045460 h 1045460"/>
              <a:gd name="connsiteX1" fmla="*/ 39951 w 631111"/>
              <a:gd name="connsiteY1" fmla="*/ 108057 h 1045460"/>
              <a:gd name="connsiteX2" fmla="*/ 620796 w 631111"/>
              <a:gd name="connsiteY2" fmla="*/ 113808 h 1045460"/>
              <a:gd name="connsiteX3" fmla="*/ 356253 w 631111"/>
              <a:gd name="connsiteY3" fmla="*/ 947694 h 1045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111" h="1045460">
                <a:moveTo>
                  <a:pt x="97460" y="1045460"/>
                </a:moveTo>
                <a:cubicBezTo>
                  <a:pt x="25094" y="654396"/>
                  <a:pt x="-47272" y="263332"/>
                  <a:pt x="39951" y="108057"/>
                </a:cubicBezTo>
                <a:cubicBezTo>
                  <a:pt x="127174" y="-47218"/>
                  <a:pt x="568079" y="-26131"/>
                  <a:pt x="620796" y="113808"/>
                </a:cubicBezTo>
                <a:cubicBezTo>
                  <a:pt x="673513" y="253747"/>
                  <a:pt x="514883" y="600720"/>
                  <a:pt x="356253" y="947694"/>
                </a:cubicBezTo>
              </a:path>
            </a:pathLst>
          </a:cu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AAE6C82-AC90-868C-2BF5-86F750237739}"/>
              </a:ext>
            </a:extLst>
          </p:cNvPr>
          <p:cNvSpPr/>
          <p:nvPr/>
        </p:nvSpPr>
        <p:spPr>
          <a:xfrm>
            <a:off x="6564680" y="1368567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855EB96-0A6D-2F0C-89A6-D1FDFF15AA21}"/>
              </a:ext>
            </a:extLst>
          </p:cNvPr>
          <p:cNvCxnSpPr>
            <a:cxnSpLocks/>
            <a:stCxn id="4" idx="0"/>
            <a:endCxn id="14" idx="4"/>
          </p:cNvCxnSpPr>
          <p:nvPr/>
        </p:nvCxnSpPr>
        <p:spPr>
          <a:xfrm flipH="1" flipV="1">
            <a:off x="6860876" y="1960958"/>
            <a:ext cx="672860" cy="500401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0DE090-178A-52B5-BD39-BB83FB548B99}"/>
                  </a:ext>
                </a:extLst>
              </p:cNvPr>
              <p:cNvSpPr txBox="1"/>
              <p:nvPr/>
            </p:nvSpPr>
            <p:spPr>
              <a:xfrm>
                <a:off x="6656003" y="178440"/>
                <a:ext cx="319177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ko-KR" sz="2800" b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0DE090-178A-52B5-BD39-BB83FB548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6003" y="178440"/>
                <a:ext cx="319177" cy="430887"/>
              </a:xfrm>
              <a:prstGeom prst="rect">
                <a:avLst/>
              </a:prstGeom>
              <a:blipFill>
                <a:blip r:embed="rId3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F3A6855-FC23-1628-4D90-03A6811080BA}"/>
                  </a:ext>
                </a:extLst>
              </p:cNvPr>
              <p:cNvSpPr txBox="1"/>
              <p:nvPr/>
            </p:nvSpPr>
            <p:spPr>
              <a:xfrm>
                <a:off x="6795949" y="1966502"/>
                <a:ext cx="95031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8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ko-KR" sz="2800" b="0"/>
                  <a:t>=1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F3A6855-FC23-1628-4D90-03A681108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5949" y="1966502"/>
                <a:ext cx="950311" cy="430887"/>
              </a:xfrm>
              <a:prstGeom prst="rect">
                <a:avLst/>
              </a:prstGeom>
              <a:blipFill>
                <a:blip r:embed="rId4"/>
                <a:stretch>
                  <a:fillRect t="-25714" b="-5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448B6E8-4DA2-8FC9-9545-9A6968C38746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7533736" y="1960958"/>
            <a:ext cx="693339" cy="500401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408A609F-8D14-6FF5-75D6-CD0758499E76}"/>
              </a:ext>
            </a:extLst>
          </p:cNvPr>
          <p:cNvSpPr/>
          <p:nvPr/>
        </p:nvSpPr>
        <p:spPr>
          <a:xfrm>
            <a:off x="8043307" y="713234"/>
            <a:ext cx="631111" cy="724617"/>
          </a:xfrm>
          <a:custGeom>
            <a:avLst/>
            <a:gdLst>
              <a:gd name="connsiteX0" fmla="*/ 97460 w 631111"/>
              <a:gd name="connsiteY0" fmla="*/ 1045460 h 1045460"/>
              <a:gd name="connsiteX1" fmla="*/ 39951 w 631111"/>
              <a:gd name="connsiteY1" fmla="*/ 108057 h 1045460"/>
              <a:gd name="connsiteX2" fmla="*/ 620796 w 631111"/>
              <a:gd name="connsiteY2" fmla="*/ 113808 h 1045460"/>
              <a:gd name="connsiteX3" fmla="*/ 356253 w 631111"/>
              <a:gd name="connsiteY3" fmla="*/ 947694 h 1045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111" h="1045460">
                <a:moveTo>
                  <a:pt x="97460" y="1045460"/>
                </a:moveTo>
                <a:cubicBezTo>
                  <a:pt x="25094" y="654396"/>
                  <a:pt x="-47272" y="263332"/>
                  <a:pt x="39951" y="108057"/>
                </a:cubicBezTo>
                <a:cubicBezTo>
                  <a:pt x="127174" y="-47218"/>
                  <a:pt x="568079" y="-26131"/>
                  <a:pt x="620796" y="113808"/>
                </a:cubicBezTo>
                <a:cubicBezTo>
                  <a:pt x="673513" y="253747"/>
                  <a:pt x="514883" y="600720"/>
                  <a:pt x="356253" y="947694"/>
                </a:cubicBezTo>
              </a:path>
            </a:pathLst>
          </a:cu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208104B5-EF1C-A62D-E0F3-19481D7B1264}"/>
              </a:ext>
            </a:extLst>
          </p:cNvPr>
          <p:cNvSpPr/>
          <p:nvPr/>
        </p:nvSpPr>
        <p:spPr>
          <a:xfrm>
            <a:off x="8011349" y="1363023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8DA257C-E43A-25B1-3982-EA7B7E32FA3E}"/>
                  </a:ext>
                </a:extLst>
              </p:cNvPr>
              <p:cNvSpPr txBox="1"/>
              <p:nvPr/>
            </p:nvSpPr>
            <p:spPr>
              <a:xfrm>
                <a:off x="8102672" y="172896"/>
                <a:ext cx="319177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ko-KR" sz="2800" b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8DA257C-E43A-25B1-3982-EA7B7E32F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2672" y="172896"/>
                <a:ext cx="319177" cy="430887"/>
              </a:xfrm>
              <a:prstGeom prst="rect">
                <a:avLst/>
              </a:prstGeom>
              <a:blipFill>
                <a:blip r:embed="rId5"/>
                <a:stretch>
                  <a:fillRect r="-75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BECF3E-47B0-4069-713B-407120400564}"/>
                  </a:ext>
                </a:extLst>
              </p:cNvPr>
              <p:cNvSpPr txBox="1"/>
              <p:nvPr/>
            </p:nvSpPr>
            <p:spPr>
              <a:xfrm>
                <a:off x="7617774" y="1966502"/>
                <a:ext cx="95031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8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ko-KR" sz="2800" b="0"/>
                  <a:t>=1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BECF3E-47B0-4069-713B-407120400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7774" y="1966502"/>
                <a:ext cx="950311" cy="430887"/>
              </a:xfrm>
              <a:prstGeom prst="rect">
                <a:avLst/>
              </a:prstGeom>
              <a:blipFill>
                <a:blip r:embed="rId6"/>
                <a:stretch>
                  <a:fillRect t="-25714" b="-5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7443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EB1501A-25AF-12C2-4A5B-1E9B79BF23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795556"/>
                <a:ext cx="10515600" cy="2386707"/>
              </a:xfrm>
            </p:spPr>
            <p:txBody>
              <a:bodyPr>
                <a:normAutofit/>
              </a:bodyPr>
              <a:lstStyle/>
              <a:p>
                <a:r>
                  <a:rPr lang="ko-KR" altLang="en-US"/>
                  <a:t>만약 고윳값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ko-KR" altLang="en-US"/>
                  <a:t>가 </a:t>
                </a:r>
                <a:r>
                  <a:rPr lang="en-US" altLang="ko-KR"/>
                  <a:t>0</a:t>
                </a:r>
                <a:r>
                  <a:rPr lang="ko-KR" altLang="en-US"/>
                  <a:t>이 되도록 하는 파동</a:t>
                </a:r>
                <a:r>
                  <a:rPr lang="en-US" altLang="ko-KR"/>
                  <a:t>(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m:rPr>
                        <m:lit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2)</m:t>
                    </m:r>
                  </m:oMath>
                </a14:m>
                <a:r>
                  <a:rPr lang="ko-KR" altLang="en-US"/>
                  <a:t> 만 고려한다고 가정하면</a:t>
                </a:r>
                <a:r>
                  <a:rPr lang="en-US" altLang="ko-KR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b="0"/>
              </a:p>
              <a:p>
                <a:pPr marL="0" indent="0">
                  <a:buNone/>
                </a:pPr>
                <a:r>
                  <a:rPr lang="ko-KR" altLang="en-US" b="0"/>
                  <a:t>이다</a:t>
                </a:r>
                <a:r>
                  <a:rPr lang="en-US" altLang="ko-KR" b="0"/>
                  <a:t>. </a:t>
                </a:r>
              </a:p>
              <a:p>
                <a:pPr marL="0" indent="0">
                  <a:buNone/>
                </a:pPr>
                <a:endParaRPr lang="en-US" altLang="ko-KR" b="0"/>
              </a:p>
              <a:p>
                <a:pPr marL="0" indent="0">
                  <a:buNone/>
                </a:pPr>
                <a:endParaRPr lang="ko-KR" altLang="en-US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EB1501A-25AF-12C2-4A5B-1E9B79BF23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795556"/>
                <a:ext cx="10515600" cy="2386707"/>
              </a:xfrm>
              <a:blipFill>
                <a:blip r:embed="rId2"/>
                <a:stretch>
                  <a:fillRect l="-1217" t="-4604" r="-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타원 3">
            <a:extLst>
              <a:ext uri="{FF2B5EF4-FFF2-40B4-BE49-F238E27FC236}">
                <a16:creationId xmlns:a16="http://schemas.microsoft.com/office/drawing/2014/main" id="{E9E3C7CE-D6A3-90D7-F5E9-C2B47099C60E}"/>
              </a:ext>
            </a:extLst>
          </p:cNvPr>
          <p:cNvSpPr/>
          <p:nvPr/>
        </p:nvSpPr>
        <p:spPr>
          <a:xfrm>
            <a:off x="3464921" y="2836609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B19FD240-6429-9741-5A9F-B78D280EE682}"/>
              </a:ext>
            </a:extLst>
          </p:cNvPr>
          <p:cNvSpPr/>
          <p:nvPr/>
        </p:nvSpPr>
        <p:spPr>
          <a:xfrm>
            <a:off x="2824019" y="1094028"/>
            <a:ext cx="631111" cy="724617"/>
          </a:xfrm>
          <a:custGeom>
            <a:avLst/>
            <a:gdLst>
              <a:gd name="connsiteX0" fmla="*/ 97460 w 631111"/>
              <a:gd name="connsiteY0" fmla="*/ 1045460 h 1045460"/>
              <a:gd name="connsiteX1" fmla="*/ 39951 w 631111"/>
              <a:gd name="connsiteY1" fmla="*/ 108057 h 1045460"/>
              <a:gd name="connsiteX2" fmla="*/ 620796 w 631111"/>
              <a:gd name="connsiteY2" fmla="*/ 113808 h 1045460"/>
              <a:gd name="connsiteX3" fmla="*/ 356253 w 631111"/>
              <a:gd name="connsiteY3" fmla="*/ 947694 h 1045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111" h="1045460">
                <a:moveTo>
                  <a:pt x="97460" y="1045460"/>
                </a:moveTo>
                <a:cubicBezTo>
                  <a:pt x="25094" y="654396"/>
                  <a:pt x="-47272" y="263332"/>
                  <a:pt x="39951" y="108057"/>
                </a:cubicBezTo>
                <a:cubicBezTo>
                  <a:pt x="127174" y="-47218"/>
                  <a:pt x="568079" y="-26131"/>
                  <a:pt x="620796" y="113808"/>
                </a:cubicBezTo>
                <a:cubicBezTo>
                  <a:pt x="673513" y="253747"/>
                  <a:pt x="514883" y="600720"/>
                  <a:pt x="356253" y="947694"/>
                </a:cubicBezTo>
              </a:path>
            </a:pathLst>
          </a:cu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A18641C-B236-C925-A996-874B02D1C2BC}"/>
              </a:ext>
            </a:extLst>
          </p:cNvPr>
          <p:cNvSpPr/>
          <p:nvPr/>
        </p:nvSpPr>
        <p:spPr>
          <a:xfrm>
            <a:off x="2792061" y="1743817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2FBDA50A-2B24-EAC0-565A-57E09733F521}"/>
              </a:ext>
            </a:extLst>
          </p:cNvPr>
          <p:cNvCxnSpPr>
            <a:cxnSpLocks/>
            <a:stCxn id="4" idx="0"/>
            <a:endCxn id="14" idx="4"/>
          </p:cNvCxnSpPr>
          <p:nvPr/>
        </p:nvCxnSpPr>
        <p:spPr>
          <a:xfrm flipH="1" flipV="1">
            <a:off x="3088257" y="2336208"/>
            <a:ext cx="672860" cy="500401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50F84E9-694C-D74F-1CB5-DEF4E2DD91A3}"/>
                  </a:ext>
                </a:extLst>
              </p:cNvPr>
              <p:cNvSpPr txBox="1"/>
              <p:nvPr/>
            </p:nvSpPr>
            <p:spPr>
              <a:xfrm>
                <a:off x="2883384" y="553690"/>
                <a:ext cx="319177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ko-KR" sz="2800" b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50F84E9-694C-D74F-1CB5-DEF4E2DD9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384" y="553690"/>
                <a:ext cx="319177" cy="430887"/>
              </a:xfrm>
              <a:prstGeom prst="rect">
                <a:avLst/>
              </a:prstGeom>
              <a:blipFill>
                <a:blip r:embed="rId3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161E952C-75C6-894B-7FED-524C4CA06056}"/>
              </a:ext>
            </a:extLst>
          </p:cNvPr>
          <p:cNvSpPr txBox="1"/>
          <p:nvPr/>
        </p:nvSpPr>
        <p:spPr>
          <a:xfrm>
            <a:off x="3008568" y="2486474"/>
            <a:ext cx="95031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2800" b="0"/>
              <a:t>1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5E0A56A-31DB-ACE2-62C1-B5C9C6B4C834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3761117" y="2336208"/>
            <a:ext cx="693339" cy="500401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6ECA41E6-EBF4-7AD9-E2A7-CE72EEA7E610}"/>
              </a:ext>
            </a:extLst>
          </p:cNvPr>
          <p:cNvSpPr/>
          <p:nvPr/>
        </p:nvSpPr>
        <p:spPr>
          <a:xfrm>
            <a:off x="4270688" y="1088484"/>
            <a:ext cx="631111" cy="724617"/>
          </a:xfrm>
          <a:custGeom>
            <a:avLst/>
            <a:gdLst>
              <a:gd name="connsiteX0" fmla="*/ 97460 w 631111"/>
              <a:gd name="connsiteY0" fmla="*/ 1045460 h 1045460"/>
              <a:gd name="connsiteX1" fmla="*/ 39951 w 631111"/>
              <a:gd name="connsiteY1" fmla="*/ 108057 h 1045460"/>
              <a:gd name="connsiteX2" fmla="*/ 620796 w 631111"/>
              <a:gd name="connsiteY2" fmla="*/ 113808 h 1045460"/>
              <a:gd name="connsiteX3" fmla="*/ 356253 w 631111"/>
              <a:gd name="connsiteY3" fmla="*/ 947694 h 1045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111" h="1045460">
                <a:moveTo>
                  <a:pt x="97460" y="1045460"/>
                </a:moveTo>
                <a:cubicBezTo>
                  <a:pt x="25094" y="654396"/>
                  <a:pt x="-47272" y="263332"/>
                  <a:pt x="39951" y="108057"/>
                </a:cubicBezTo>
                <a:cubicBezTo>
                  <a:pt x="127174" y="-47218"/>
                  <a:pt x="568079" y="-26131"/>
                  <a:pt x="620796" y="113808"/>
                </a:cubicBezTo>
                <a:cubicBezTo>
                  <a:pt x="673513" y="253747"/>
                  <a:pt x="514883" y="600720"/>
                  <a:pt x="356253" y="947694"/>
                </a:cubicBezTo>
              </a:path>
            </a:pathLst>
          </a:cu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486BEC5-BEDC-9697-C6B7-48BFA85CC18D}"/>
              </a:ext>
            </a:extLst>
          </p:cNvPr>
          <p:cNvSpPr/>
          <p:nvPr/>
        </p:nvSpPr>
        <p:spPr>
          <a:xfrm>
            <a:off x="4238730" y="1738273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C3869B7-10AB-D0F5-B0BA-0AB661995B7E}"/>
                  </a:ext>
                </a:extLst>
              </p:cNvPr>
              <p:cNvSpPr txBox="1"/>
              <p:nvPr/>
            </p:nvSpPr>
            <p:spPr>
              <a:xfrm>
                <a:off x="4330053" y="548146"/>
                <a:ext cx="319177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ko-KR" sz="2800" b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C3869B7-10AB-D0F5-B0BA-0AB661995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053" y="548146"/>
                <a:ext cx="319177" cy="430887"/>
              </a:xfrm>
              <a:prstGeom prst="rect">
                <a:avLst/>
              </a:prstGeom>
              <a:blipFill>
                <a:blip r:embed="rId4"/>
                <a:stretch>
                  <a:fillRect r="-75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CE69B54C-7FD4-48AE-3624-1267270E5A60}"/>
              </a:ext>
            </a:extLst>
          </p:cNvPr>
          <p:cNvSpPr txBox="1"/>
          <p:nvPr/>
        </p:nvSpPr>
        <p:spPr>
          <a:xfrm>
            <a:off x="4295309" y="2474218"/>
            <a:ext cx="95031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2800" b="0"/>
              <a:t>1</a:t>
            </a: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B052A46B-ED60-B0BE-B3B7-A1D14602111A}"/>
              </a:ext>
            </a:extLst>
          </p:cNvPr>
          <p:cNvSpPr/>
          <p:nvPr/>
        </p:nvSpPr>
        <p:spPr>
          <a:xfrm>
            <a:off x="6969047" y="1736830"/>
            <a:ext cx="631111" cy="724617"/>
          </a:xfrm>
          <a:custGeom>
            <a:avLst/>
            <a:gdLst>
              <a:gd name="connsiteX0" fmla="*/ 97460 w 631111"/>
              <a:gd name="connsiteY0" fmla="*/ 1045460 h 1045460"/>
              <a:gd name="connsiteX1" fmla="*/ 39951 w 631111"/>
              <a:gd name="connsiteY1" fmla="*/ 108057 h 1045460"/>
              <a:gd name="connsiteX2" fmla="*/ 620796 w 631111"/>
              <a:gd name="connsiteY2" fmla="*/ 113808 h 1045460"/>
              <a:gd name="connsiteX3" fmla="*/ 356253 w 631111"/>
              <a:gd name="connsiteY3" fmla="*/ 947694 h 1045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111" h="1045460">
                <a:moveTo>
                  <a:pt x="97460" y="1045460"/>
                </a:moveTo>
                <a:cubicBezTo>
                  <a:pt x="25094" y="654396"/>
                  <a:pt x="-47272" y="263332"/>
                  <a:pt x="39951" y="108057"/>
                </a:cubicBezTo>
                <a:cubicBezTo>
                  <a:pt x="127174" y="-47218"/>
                  <a:pt x="568079" y="-26131"/>
                  <a:pt x="620796" y="113808"/>
                </a:cubicBezTo>
                <a:cubicBezTo>
                  <a:pt x="673513" y="253747"/>
                  <a:pt x="514883" y="600720"/>
                  <a:pt x="356253" y="947694"/>
                </a:cubicBezTo>
              </a:path>
            </a:pathLst>
          </a:cu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A02F147-6CC1-9E14-DBA6-22500BB141B2}"/>
              </a:ext>
            </a:extLst>
          </p:cNvPr>
          <p:cNvSpPr/>
          <p:nvPr/>
        </p:nvSpPr>
        <p:spPr>
          <a:xfrm>
            <a:off x="6937089" y="2386619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C8FCF8D-9557-868D-7181-1757DCFA2D86}"/>
                  </a:ext>
                </a:extLst>
              </p:cNvPr>
              <p:cNvSpPr txBox="1"/>
              <p:nvPr/>
            </p:nvSpPr>
            <p:spPr>
              <a:xfrm>
                <a:off x="7529480" y="992230"/>
                <a:ext cx="3655273" cy="12159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sz="2400"/>
              </a:p>
              <a:p>
                <a:pPr/>
                <a:endParaRPr lang="ko-KR" altLang="en-US" sz="240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C8FCF8D-9557-868D-7181-1757DCFA2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9480" y="992230"/>
                <a:ext cx="3655273" cy="12159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8703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C23BBE9-BFA0-1CFA-8596-191E8C2D4F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2240292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ko-KR" altLang="en-US"/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b="0"/>
                  <a:t>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둘</m:t>
                    </m:r>
                  </m:oMath>
                </a14:m>
                <a:r>
                  <a:rPr lang="en-US" altLang="ko-KR" b="0"/>
                  <a:t> </a:t>
                </a:r>
                <a:r>
                  <a:rPr lang="ko-KR" altLang="en-US" b="0"/>
                  <a:t>중 적어도 하나가 </a:t>
                </a:r>
                <a:r>
                  <a:rPr lang="en-US" altLang="ko-KR" b="0"/>
                  <a:t>0</a:t>
                </a:r>
                <a:r>
                  <a:rPr lang="ko-KR" altLang="en-US" b="0"/>
                  <a:t>이면</a:t>
                </a:r>
                <a:r>
                  <a:rPr lang="en-US" altLang="ko-KR" b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b="0"/>
                  <a:t>은 </a:t>
                </a:r>
                <a:r>
                  <a:rPr lang="ko-KR" altLang="en-US"/>
                  <a:t>∞가 되고</a:t>
                </a:r>
                <a:r>
                  <a:rPr lang="en-US" altLang="ko-KR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b="0"/>
                  <a:t>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b="0"/>
                  <a:t> </a:t>
                </a:r>
                <a:r>
                  <a:rPr lang="ko-KR" altLang="en-US" b="0"/>
                  <a:t>둘 다 </a:t>
                </a:r>
                <a:r>
                  <a:rPr lang="ko-KR" altLang="en-US"/>
                  <a:t>∞이면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b="0"/>
                  <a:t>는 </a:t>
                </a:r>
                <a:r>
                  <a:rPr lang="en-US" altLang="ko-KR" b="0"/>
                  <a:t>0</a:t>
                </a:r>
                <a:r>
                  <a:rPr lang="ko-KR" altLang="en-US" b="0"/>
                  <a:t>이 된다</a:t>
                </a:r>
                <a:r>
                  <a:rPr lang="en-US" altLang="ko-KR" b="0"/>
                  <a:t>.</a:t>
                </a:r>
              </a:p>
              <a:p>
                <a:r>
                  <a:rPr lang="en-US" altLang="ko-KR"/>
                  <a:t>0</a:t>
                </a:r>
                <a:r>
                  <a:rPr lang="ko-KR" altLang="en-US"/>
                  <a:t>을 </a:t>
                </a:r>
                <a:r>
                  <a:rPr lang="en-US" altLang="ko-KR"/>
                  <a:t>“</a:t>
                </a:r>
                <a:r>
                  <a:rPr lang="ko-KR" altLang="en-US"/>
                  <a:t>패</a:t>
                </a:r>
                <a:r>
                  <a:rPr lang="en-US" altLang="ko-KR"/>
                  <a:t>”, </a:t>
                </a:r>
                <a:r>
                  <a:rPr lang="ko-KR" altLang="en-US"/>
                  <a:t>∞를 </a:t>
                </a:r>
                <a:r>
                  <a:rPr lang="en-US" altLang="ko-KR"/>
                  <a:t>“</a:t>
                </a:r>
                <a:r>
                  <a:rPr lang="ko-KR" altLang="en-US"/>
                  <a:t>승</a:t>
                </a:r>
                <a:r>
                  <a:rPr lang="en-US" altLang="ko-KR"/>
                  <a:t>”</a:t>
                </a:r>
                <a:r>
                  <a:rPr lang="ko-KR" altLang="en-US"/>
                  <a:t>에 할당하면</a:t>
                </a:r>
                <a:r>
                  <a:rPr lang="en-US" altLang="ko-KR"/>
                  <a:t>, </a:t>
                </a:r>
                <a:r>
                  <a:rPr lang="ko-KR" altLang="en-US"/>
                  <a:t>이것은 앞서 본 게임 트리에서 필승</a:t>
                </a:r>
                <a:r>
                  <a:rPr lang="en-US" altLang="ko-KR"/>
                  <a:t>, </a:t>
                </a:r>
                <a:r>
                  <a:rPr lang="ko-KR" altLang="en-US"/>
                  <a:t>필패 평가 방법과 정확히 일치한다</a:t>
                </a:r>
                <a:r>
                  <a:rPr lang="en-US" altLang="ko-KR"/>
                  <a:t>.</a:t>
                </a:r>
                <a:endParaRPr lang="en-US" altLang="ko-KR" b="0"/>
              </a:p>
              <a:p>
                <a:endParaRPr lang="en-US" altLang="ko-KR" b="0"/>
              </a:p>
              <a:p>
                <a:endParaRPr lang="en-US" altLang="ko-KR" b="0"/>
              </a:p>
              <a:p>
                <a:endParaRPr lang="en-US" altLang="ko-KR" b="0"/>
              </a:p>
              <a:p>
                <a:endParaRPr lang="en-US" altLang="ko-KR" b="0"/>
              </a:p>
              <a:p>
                <a:endParaRPr lang="en-US" altLang="ko-KR" b="0"/>
              </a:p>
              <a:p>
                <a:endParaRPr lang="ko-KR" altLang="en-US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C23BBE9-BFA0-1CFA-8596-191E8C2D4F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2240292"/>
              </a:xfrm>
              <a:blipFill>
                <a:blip r:embed="rId2"/>
                <a:stretch>
                  <a:fillRect l="-1043" t="-16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2A7841-AC0F-FA42-A8D2-8CBA9231E841}"/>
                  </a:ext>
                </a:extLst>
              </p:cNvPr>
              <p:cNvSpPr txBox="1"/>
              <p:nvPr/>
            </p:nvSpPr>
            <p:spPr>
              <a:xfrm>
                <a:off x="368060" y="681037"/>
                <a:ext cx="6096000" cy="6580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2A7841-AC0F-FA42-A8D2-8CBA9231E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60" y="681037"/>
                <a:ext cx="6096000" cy="6580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9895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09780-20B2-BAF6-CBCA-3C5B75511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98E35D-2DC0-002E-622B-779FF55A5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868" y="4928559"/>
            <a:ext cx="10515600" cy="1685476"/>
          </a:xfrm>
        </p:spPr>
        <p:txBody>
          <a:bodyPr/>
          <a:lstStyle/>
          <a:p>
            <a:r>
              <a:rPr lang="ko-KR" altLang="en-US"/>
              <a:t>파동이 투과하면</a:t>
            </a:r>
            <a:r>
              <a:rPr lang="en-US" altLang="ko-KR"/>
              <a:t> -&gt; </a:t>
            </a:r>
            <a:r>
              <a:rPr lang="ko-KR" altLang="en-US"/>
              <a:t>필승 전략 없음</a:t>
            </a:r>
            <a:r>
              <a:rPr lang="en-US" altLang="ko-KR"/>
              <a:t>(</a:t>
            </a:r>
            <a:r>
              <a:rPr lang="ko-KR" altLang="en-US"/>
              <a:t>필패</a:t>
            </a:r>
            <a:r>
              <a:rPr lang="en-US" altLang="ko-KR"/>
              <a:t>)</a:t>
            </a:r>
          </a:p>
          <a:p>
            <a:r>
              <a:rPr lang="ko-KR" altLang="en-US"/>
              <a:t>파동이 반사하면 </a:t>
            </a:r>
            <a:r>
              <a:rPr lang="en-US" altLang="ko-KR"/>
              <a:t>-&gt; </a:t>
            </a:r>
            <a:r>
              <a:rPr lang="ko-KR" altLang="en-US"/>
              <a:t>필승 전략 있음</a:t>
            </a:r>
            <a:r>
              <a:rPr lang="en-US" altLang="ko-KR"/>
              <a:t>(</a:t>
            </a:r>
            <a:r>
              <a:rPr lang="ko-KR" altLang="en-US"/>
              <a:t>필승</a:t>
            </a:r>
            <a:r>
              <a:rPr lang="en-US" altLang="ko-KR"/>
              <a:t>) </a:t>
            </a: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404B777-FFC0-DB87-2A6C-FE972CBA04AA}"/>
              </a:ext>
            </a:extLst>
          </p:cNvPr>
          <p:cNvSpPr/>
          <p:nvPr/>
        </p:nvSpPr>
        <p:spPr>
          <a:xfrm>
            <a:off x="5627277" y="3459305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75829AD-6EC6-6005-4B3E-4CA242CB82C0}"/>
              </a:ext>
            </a:extLst>
          </p:cNvPr>
          <p:cNvSpPr/>
          <p:nvPr/>
        </p:nvSpPr>
        <p:spPr>
          <a:xfrm>
            <a:off x="4954417" y="2366513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6C16445-1559-E01C-9621-A3C0FBF17BF4}"/>
              </a:ext>
            </a:extLst>
          </p:cNvPr>
          <p:cNvCxnSpPr>
            <a:cxnSpLocks/>
            <a:stCxn id="6" idx="0"/>
            <a:endCxn id="7" idx="4"/>
          </p:cNvCxnSpPr>
          <p:nvPr/>
        </p:nvCxnSpPr>
        <p:spPr>
          <a:xfrm flipH="1" flipV="1">
            <a:off x="5250613" y="2958904"/>
            <a:ext cx="672860" cy="500401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14C057B-817A-C3AD-95DD-4E5DED018CBB}"/>
              </a:ext>
            </a:extLst>
          </p:cNvPr>
          <p:cNvSpPr txBox="1"/>
          <p:nvPr/>
        </p:nvSpPr>
        <p:spPr>
          <a:xfrm>
            <a:off x="5170924" y="3109170"/>
            <a:ext cx="95031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2800" b="0"/>
              <a:t>1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436DBDA-966B-6CD2-6F4E-2C2000B48E4E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5923473" y="2958904"/>
            <a:ext cx="693339" cy="500401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0484B9F9-A1E2-5BFC-AD8A-2B76BE165512}"/>
              </a:ext>
            </a:extLst>
          </p:cNvPr>
          <p:cNvSpPr/>
          <p:nvPr/>
        </p:nvSpPr>
        <p:spPr>
          <a:xfrm>
            <a:off x="6401086" y="2360969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7C5DF8-0B88-4DB2-BD93-8A86E280FF67}"/>
              </a:ext>
            </a:extLst>
          </p:cNvPr>
          <p:cNvSpPr txBox="1"/>
          <p:nvPr/>
        </p:nvSpPr>
        <p:spPr>
          <a:xfrm>
            <a:off x="6457665" y="3096914"/>
            <a:ext cx="95031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2800" b="0"/>
              <a:t>1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FD78BEA-E85D-9EA5-C82E-3C897889321F}"/>
              </a:ext>
            </a:extLst>
          </p:cNvPr>
          <p:cNvSpPr/>
          <p:nvPr/>
        </p:nvSpPr>
        <p:spPr>
          <a:xfrm>
            <a:off x="4241264" y="1311325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CD42706-B467-3E37-C70D-055D30FB24EB}"/>
              </a:ext>
            </a:extLst>
          </p:cNvPr>
          <p:cNvCxnSpPr>
            <a:cxnSpLocks/>
            <a:endCxn id="13" idx="4"/>
          </p:cNvCxnSpPr>
          <p:nvPr/>
        </p:nvCxnSpPr>
        <p:spPr>
          <a:xfrm flipH="1" flipV="1">
            <a:off x="4537460" y="1903716"/>
            <a:ext cx="672860" cy="500401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FC9ABCE-3476-FBC0-C34A-94641CC03E98}"/>
              </a:ext>
            </a:extLst>
          </p:cNvPr>
          <p:cNvSpPr txBox="1"/>
          <p:nvPr/>
        </p:nvSpPr>
        <p:spPr>
          <a:xfrm>
            <a:off x="4457771" y="2053982"/>
            <a:ext cx="95031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2800" b="0"/>
              <a:t>1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E0EE364-5F04-9E9A-3E01-44A86ED1F53D}"/>
              </a:ext>
            </a:extLst>
          </p:cNvPr>
          <p:cNvCxnSpPr>
            <a:cxnSpLocks/>
          </p:cNvCxnSpPr>
          <p:nvPr/>
        </p:nvCxnSpPr>
        <p:spPr>
          <a:xfrm flipV="1">
            <a:off x="5210320" y="1903716"/>
            <a:ext cx="693339" cy="500401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6F57DAC7-24FF-B89F-A5F0-EC889B73259C}"/>
              </a:ext>
            </a:extLst>
          </p:cNvPr>
          <p:cNvSpPr/>
          <p:nvPr/>
        </p:nvSpPr>
        <p:spPr>
          <a:xfrm>
            <a:off x="5687933" y="1305781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E5647B-1E78-176F-EB76-29042C84554F}"/>
              </a:ext>
            </a:extLst>
          </p:cNvPr>
          <p:cNvSpPr txBox="1"/>
          <p:nvPr/>
        </p:nvSpPr>
        <p:spPr>
          <a:xfrm>
            <a:off x="5744512" y="2041726"/>
            <a:ext cx="95031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2800" b="0"/>
              <a:t>1</a:t>
            </a: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18950AE2-F283-E733-A1AE-F3CDDD2729CB}"/>
              </a:ext>
            </a:extLst>
          </p:cNvPr>
          <p:cNvSpPr/>
          <p:nvPr/>
        </p:nvSpPr>
        <p:spPr>
          <a:xfrm>
            <a:off x="4297843" y="919412"/>
            <a:ext cx="631111" cy="724617"/>
          </a:xfrm>
          <a:custGeom>
            <a:avLst/>
            <a:gdLst>
              <a:gd name="connsiteX0" fmla="*/ 97460 w 631111"/>
              <a:gd name="connsiteY0" fmla="*/ 1045460 h 1045460"/>
              <a:gd name="connsiteX1" fmla="*/ 39951 w 631111"/>
              <a:gd name="connsiteY1" fmla="*/ 108057 h 1045460"/>
              <a:gd name="connsiteX2" fmla="*/ 620796 w 631111"/>
              <a:gd name="connsiteY2" fmla="*/ 113808 h 1045460"/>
              <a:gd name="connsiteX3" fmla="*/ 356253 w 631111"/>
              <a:gd name="connsiteY3" fmla="*/ 947694 h 1045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111" h="1045460">
                <a:moveTo>
                  <a:pt x="97460" y="1045460"/>
                </a:moveTo>
                <a:cubicBezTo>
                  <a:pt x="25094" y="654396"/>
                  <a:pt x="-47272" y="263332"/>
                  <a:pt x="39951" y="108057"/>
                </a:cubicBezTo>
                <a:cubicBezTo>
                  <a:pt x="127174" y="-47218"/>
                  <a:pt x="568079" y="-26131"/>
                  <a:pt x="620796" y="113808"/>
                </a:cubicBezTo>
                <a:cubicBezTo>
                  <a:pt x="673513" y="253747"/>
                  <a:pt x="514883" y="600720"/>
                  <a:pt x="356253" y="947694"/>
                </a:cubicBezTo>
              </a:path>
            </a:pathLst>
          </a:cu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CCC4EE-1254-9F1E-5A1E-E753CC01369B}"/>
              </a:ext>
            </a:extLst>
          </p:cNvPr>
          <p:cNvSpPr txBox="1"/>
          <p:nvPr/>
        </p:nvSpPr>
        <p:spPr>
          <a:xfrm>
            <a:off x="4357208" y="379074"/>
            <a:ext cx="319177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2800" b="0"/>
              <a:t>0</a:t>
            </a: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FD412259-4E32-83C9-A769-688A12C99AF9}"/>
              </a:ext>
            </a:extLst>
          </p:cNvPr>
          <p:cNvSpPr/>
          <p:nvPr/>
        </p:nvSpPr>
        <p:spPr>
          <a:xfrm>
            <a:off x="5744512" y="913868"/>
            <a:ext cx="631111" cy="724617"/>
          </a:xfrm>
          <a:custGeom>
            <a:avLst/>
            <a:gdLst>
              <a:gd name="connsiteX0" fmla="*/ 97460 w 631111"/>
              <a:gd name="connsiteY0" fmla="*/ 1045460 h 1045460"/>
              <a:gd name="connsiteX1" fmla="*/ 39951 w 631111"/>
              <a:gd name="connsiteY1" fmla="*/ 108057 h 1045460"/>
              <a:gd name="connsiteX2" fmla="*/ 620796 w 631111"/>
              <a:gd name="connsiteY2" fmla="*/ 113808 h 1045460"/>
              <a:gd name="connsiteX3" fmla="*/ 356253 w 631111"/>
              <a:gd name="connsiteY3" fmla="*/ 947694 h 1045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111" h="1045460">
                <a:moveTo>
                  <a:pt x="97460" y="1045460"/>
                </a:moveTo>
                <a:cubicBezTo>
                  <a:pt x="25094" y="654396"/>
                  <a:pt x="-47272" y="263332"/>
                  <a:pt x="39951" y="108057"/>
                </a:cubicBezTo>
                <a:cubicBezTo>
                  <a:pt x="127174" y="-47218"/>
                  <a:pt x="568079" y="-26131"/>
                  <a:pt x="620796" y="113808"/>
                </a:cubicBezTo>
                <a:cubicBezTo>
                  <a:pt x="673513" y="253747"/>
                  <a:pt x="514883" y="600720"/>
                  <a:pt x="356253" y="947694"/>
                </a:cubicBezTo>
              </a:path>
            </a:pathLst>
          </a:cu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84F9721-104E-5767-A14D-8E10AE9FFDEC}"/>
                  </a:ext>
                </a:extLst>
              </p:cNvPr>
              <p:cNvSpPr txBox="1"/>
              <p:nvPr/>
            </p:nvSpPr>
            <p:spPr>
              <a:xfrm>
                <a:off x="5803877" y="373530"/>
                <a:ext cx="319177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ko-KR" sz="2800" b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84F9721-104E-5767-A14D-8E10AE9FF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877" y="373530"/>
                <a:ext cx="319177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타원 23">
            <a:extLst>
              <a:ext uri="{FF2B5EF4-FFF2-40B4-BE49-F238E27FC236}">
                <a16:creationId xmlns:a16="http://schemas.microsoft.com/office/drawing/2014/main" id="{A6A02876-667D-D7D5-D1AD-034C6486FF5A}"/>
              </a:ext>
            </a:extLst>
          </p:cNvPr>
          <p:cNvSpPr/>
          <p:nvPr/>
        </p:nvSpPr>
        <p:spPr>
          <a:xfrm>
            <a:off x="4190990" y="3448067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9270266D-0040-8143-D1C7-9C9A36A4FF2A}"/>
              </a:ext>
            </a:extLst>
          </p:cNvPr>
          <p:cNvSpPr/>
          <p:nvPr/>
        </p:nvSpPr>
        <p:spPr>
          <a:xfrm>
            <a:off x="2754703" y="3448067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8AC7C1A2-9042-12C9-FF0E-2A776BF81BCB}"/>
              </a:ext>
            </a:extLst>
          </p:cNvPr>
          <p:cNvSpPr/>
          <p:nvPr/>
        </p:nvSpPr>
        <p:spPr>
          <a:xfrm>
            <a:off x="7063564" y="3448067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9EB6AFEC-DBDA-7CFA-F2E9-25BB74E03336}"/>
              </a:ext>
            </a:extLst>
          </p:cNvPr>
          <p:cNvSpPr/>
          <p:nvPr/>
        </p:nvSpPr>
        <p:spPr>
          <a:xfrm>
            <a:off x="8499851" y="3448067"/>
            <a:ext cx="592391" cy="5923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BE62872-86FD-A8F1-9EE6-73FABE16FEF2}"/>
              </a:ext>
            </a:extLst>
          </p:cNvPr>
          <p:cNvCxnSpPr>
            <a:cxnSpLocks/>
            <a:stCxn id="25" idx="6"/>
            <a:endCxn id="24" idx="2"/>
          </p:cNvCxnSpPr>
          <p:nvPr/>
        </p:nvCxnSpPr>
        <p:spPr>
          <a:xfrm>
            <a:off x="3347094" y="3744263"/>
            <a:ext cx="843896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EF52372B-71C8-94C0-0B2E-6622E6190FEF}"/>
              </a:ext>
            </a:extLst>
          </p:cNvPr>
          <p:cNvCxnSpPr>
            <a:cxnSpLocks/>
          </p:cNvCxnSpPr>
          <p:nvPr/>
        </p:nvCxnSpPr>
        <p:spPr>
          <a:xfrm>
            <a:off x="4783381" y="3744263"/>
            <a:ext cx="843896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1E12D9AD-0660-FBBC-7C7B-8CF3A32FC539}"/>
              </a:ext>
            </a:extLst>
          </p:cNvPr>
          <p:cNvCxnSpPr>
            <a:cxnSpLocks/>
          </p:cNvCxnSpPr>
          <p:nvPr/>
        </p:nvCxnSpPr>
        <p:spPr>
          <a:xfrm>
            <a:off x="6219668" y="3744263"/>
            <a:ext cx="843896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A6DF463D-2CE2-FF34-B8B4-F3BE9103FBF5}"/>
              </a:ext>
            </a:extLst>
          </p:cNvPr>
          <p:cNvCxnSpPr>
            <a:cxnSpLocks/>
          </p:cNvCxnSpPr>
          <p:nvPr/>
        </p:nvCxnSpPr>
        <p:spPr>
          <a:xfrm>
            <a:off x="7655955" y="3744263"/>
            <a:ext cx="843896" cy="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4B42275B-DA3B-9F1B-CE55-FE01AC440366}"/>
              </a:ext>
            </a:extLst>
          </p:cNvPr>
          <p:cNvSpPr/>
          <p:nvPr/>
        </p:nvSpPr>
        <p:spPr>
          <a:xfrm>
            <a:off x="6442381" y="1772186"/>
            <a:ext cx="631111" cy="724617"/>
          </a:xfrm>
          <a:custGeom>
            <a:avLst/>
            <a:gdLst>
              <a:gd name="connsiteX0" fmla="*/ 97460 w 631111"/>
              <a:gd name="connsiteY0" fmla="*/ 1045460 h 1045460"/>
              <a:gd name="connsiteX1" fmla="*/ 39951 w 631111"/>
              <a:gd name="connsiteY1" fmla="*/ 108057 h 1045460"/>
              <a:gd name="connsiteX2" fmla="*/ 620796 w 631111"/>
              <a:gd name="connsiteY2" fmla="*/ 113808 h 1045460"/>
              <a:gd name="connsiteX3" fmla="*/ 356253 w 631111"/>
              <a:gd name="connsiteY3" fmla="*/ 947694 h 1045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111" h="1045460">
                <a:moveTo>
                  <a:pt x="97460" y="1045460"/>
                </a:moveTo>
                <a:cubicBezTo>
                  <a:pt x="25094" y="654396"/>
                  <a:pt x="-47272" y="263332"/>
                  <a:pt x="39951" y="108057"/>
                </a:cubicBezTo>
                <a:cubicBezTo>
                  <a:pt x="127174" y="-47218"/>
                  <a:pt x="568079" y="-26131"/>
                  <a:pt x="620796" y="113808"/>
                </a:cubicBezTo>
                <a:cubicBezTo>
                  <a:pt x="673513" y="253747"/>
                  <a:pt x="514883" y="600720"/>
                  <a:pt x="356253" y="947694"/>
                </a:cubicBezTo>
              </a:path>
            </a:pathLst>
          </a:cu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86EA431-D7C4-F78B-7D80-55B03501FB7D}"/>
                  </a:ext>
                </a:extLst>
              </p:cNvPr>
              <p:cNvSpPr txBox="1"/>
              <p:nvPr/>
            </p:nvSpPr>
            <p:spPr>
              <a:xfrm>
                <a:off x="6674300" y="1235774"/>
                <a:ext cx="319177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ko-KR" sz="2800" b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86EA431-D7C4-F78B-7D80-55B03501F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300" y="1235774"/>
                <a:ext cx="319177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016D4DBC-378B-5769-E59A-B57EFD418CE0}"/>
              </a:ext>
            </a:extLst>
          </p:cNvPr>
          <p:cNvCxnSpPr/>
          <p:nvPr/>
        </p:nvCxnSpPr>
        <p:spPr>
          <a:xfrm>
            <a:off x="2754703" y="4479985"/>
            <a:ext cx="13169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5083AE00-8FA8-D8B5-4AAE-66929F4629AB}"/>
              </a:ext>
            </a:extLst>
          </p:cNvPr>
          <p:cNvSpPr/>
          <p:nvPr/>
        </p:nvSpPr>
        <p:spPr>
          <a:xfrm>
            <a:off x="2743200" y="4211149"/>
            <a:ext cx="1253706" cy="435723"/>
          </a:xfrm>
          <a:custGeom>
            <a:avLst/>
            <a:gdLst>
              <a:gd name="connsiteX0" fmla="*/ 0 w 1253706"/>
              <a:gd name="connsiteY0" fmla="*/ 251583 h 435723"/>
              <a:gd name="connsiteX1" fmla="*/ 40257 w 1253706"/>
              <a:gd name="connsiteY1" fmla="*/ 4293 h 435723"/>
              <a:gd name="connsiteX2" fmla="*/ 235789 w 1253706"/>
              <a:gd name="connsiteY2" fmla="*/ 435613 h 435723"/>
              <a:gd name="connsiteX3" fmla="*/ 316302 w 1253706"/>
              <a:gd name="connsiteY3" fmla="*/ 50300 h 435723"/>
              <a:gd name="connsiteX4" fmla="*/ 477328 w 1253706"/>
              <a:gd name="connsiteY4" fmla="*/ 435613 h 435723"/>
              <a:gd name="connsiteX5" fmla="*/ 592347 w 1253706"/>
              <a:gd name="connsiteY5" fmla="*/ 44549 h 435723"/>
              <a:gd name="connsiteX6" fmla="*/ 759125 w 1253706"/>
              <a:gd name="connsiteY6" fmla="*/ 406859 h 435723"/>
              <a:gd name="connsiteX7" fmla="*/ 833887 w 1253706"/>
              <a:gd name="connsiteY7" fmla="*/ 44549 h 435723"/>
              <a:gd name="connsiteX8" fmla="*/ 1000664 w 1253706"/>
              <a:gd name="connsiteY8" fmla="*/ 435613 h 435723"/>
              <a:gd name="connsiteX9" fmla="*/ 1081177 w 1253706"/>
              <a:gd name="connsiteY9" fmla="*/ 10043 h 435723"/>
              <a:gd name="connsiteX10" fmla="*/ 1253706 w 1253706"/>
              <a:gd name="connsiteY10" fmla="*/ 401108 h 435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53706" h="435723">
                <a:moveTo>
                  <a:pt x="0" y="251583"/>
                </a:moveTo>
                <a:cubicBezTo>
                  <a:pt x="479" y="112602"/>
                  <a:pt x="959" y="-26379"/>
                  <a:pt x="40257" y="4293"/>
                </a:cubicBezTo>
                <a:cubicBezTo>
                  <a:pt x="79555" y="34965"/>
                  <a:pt x="189782" y="427945"/>
                  <a:pt x="235789" y="435613"/>
                </a:cubicBezTo>
                <a:cubicBezTo>
                  <a:pt x="281797" y="443281"/>
                  <a:pt x="276046" y="50300"/>
                  <a:pt x="316302" y="50300"/>
                </a:cubicBezTo>
                <a:cubicBezTo>
                  <a:pt x="356558" y="50300"/>
                  <a:pt x="431321" y="436571"/>
                  <a:pt x="477328" y="435613"/>
                </a:cubicBezTo>
                <a:cubicBezTo>
                  <a:pt x="523335" y="434655"/>
                  <a:pt x="545381" y="49341"/>
                  <a:pt x="592347" y="44549"/>
                </a:cubicBezTo>
                <a:cubicBezTo>
                  <a:pt x="639313" y="39757"/>
                  <a:pt x="718868" y="406859"/>
                  <a:pt x="759125" y="406859"/>
                </a:cubicBezTo>
                <a:cubicBezTo>
                  <a:pt x="799382" y="406859"/>
                  <a:pt x="793631" y="39757"/>
                  <a:pt x="833887" y="44549"/>
                </a:cubicBezTo>
                <a:cubicBezTo>
                  <a:pt x="874143" y="49341"/>
                  <a:pt x="959449" y="441364"/>
                  <a:pt x="1000664" y="435613"/>
                </a:cubicBezTo>
                <a:cubicBezTo>
                  <a:pt x="1041879" y="429862"/>
                  <a:pt x="1039003" y="15794"/>
                  <a:pt x="1081177" y="10043"/>
                </a:cubicBezTo>
                <a:cubicBezTo>
                  <a:pt x="1123351" y="4292"/>
                  <a:pt x="1188528" y="202700"/>
                  <a:pt x="1253706" y="40110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78214E0-68FB-A535-CE2B-A61CD6E81283}"/>
              </a:ext>
            </a:extLst>
          </p:cNvPr>
          <p:cNvSpPr txBox="1"/>
          <p:nvPr/>
        </p:nvSpPr>
        <p:spPr>
          <a:xfrm>
            <a:off x="1311215" y="434196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K=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804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8EAACE-7433-F132-DD8B-42B2FA593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파동 패킷</a:t>
            </a:r>
            <a:r>
              <a:rPr lang="en-US" altLang="ko-KR"/>
              <a:t> (wave packet)</a:t>
            </a:r>
            <a:r>
              <a:rPr lang="ko-KR" altLang="en-US"/>
              <a:t>을 이용한 알고리즘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78B2C1-0617-15F1-28BE-629607845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772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896</Words>
  <Application>Microsoft Office PowerPoint</Application>
  <PresentationFormat>와이드스크린</PresentationFormat>
  <Paragraphs>116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Arial</vt:lpstr>
      <vt:lpstr>Cambria Math</vt:lpstr>
      <vt:lpstr>Office 테마</vt:lpstr>
      <vt:lpstr>게임 트리 탐색을 위한 양자 알고리즘 </vt:lpstr>
      <vt:lpstr>고전적 랜덤 워크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양자 랜덤 워크</vt:lpstr>
      <vt:lpstr>PowerPoint 프레젠테이션</vt:lpstr>
      <vt:lpstr>PowerPoint 프레젠테이션</vt:lpstr>
      <vt:lpstr>게임 탐색 알고리즘</vt:lpstr>
      <vt:lpstr>필승, 필패 평가 = NAND 트리 평가</vt:lpstr>
      <vt:lpstr>루프가 첨가된 라인 그래프</vt:lpstr>
      <vt:lpstr>PowerPoint 프레젠테이션</vt:lpstr>
      <vt:lpstr>엣지 + 루프 첨가</vt:lpstr>
      <vt:lpstr>PowerPoint 프레젠테이션</vt:lpstr>
      <vt:lpstr>브랜치 첨가</vt:lpstr>
      <vt:lpstr>PowerPoint 프레젠테이션</vt:lpstr>
      <vt:lpstr>PowerPoint 프레젠테이션</vt:lpstr>
      <vt:lpstr>PowerPoint 프레젠테이션</vt:lpstr>
      <vt:lpstr>파동 패킷 (wave packet)을 이용한 알고리즘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강효민</dc:creator>
  <cp:lastModifiedBy>강효민</cp:lastModifiedBy>
  <cp:revision>1</cp:revision>
  <dcterms:created xsi:type="dcterms:W3CDTF">2025-12-09T09:22:54Z</dcterms:created>
  <dcterms:modified xsi:type="dcterms:W3CDTF">2025-12-09T11:39:41Z</dcterms:modified>
</cp:coreProperties>
</file>